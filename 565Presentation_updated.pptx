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emf" ContentType="image/x-emf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74" r:id="rId3"/>
    <p:sldId id="283" r:id="rId4"/>
    <p:sldId id="260" r:id="rId5"/>
    <p:sldId id="269" r:id="rId6"/>
    <p:sldId id="275" r:id="rId7"/>
    <p:sldId id="276" r:id="rId8"/>
    <p:sldId id="280" r:id="rId9"/>
    <p:sldId id="281" r:id="rId10"/>
    <p:sldId id="262" r:id="rId11"/>
    <p:sldId id="278" r:id="rId12"/>
    <p:sldId id="279" r:id="rId13"/>
    <p:sldId id="263" r:id="rId14"/>
    <p:sldId id="285" r:id="rId15"/>
    <p:sldId id="273" r:id="rId16"/>
    <p:sldId id="264" r:id="rId17"/>
    <p:sldId id="270" r:id="rId18"/>
    <p:sldId id="265" r:id="rId19"/>
    <p:sldId id="282" r:id="rId20"/>
    <p:sldId id="267" r:id="rId21"/>
    <p:sldId id="268" r:id="rId22"/>
    <p:sldId id="284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83"/>
    <p:restoredTop sz="94628"/>
  </p:normalViewPr>
  <p:slideViewPr>
    <p:cSldViewPr snapToGrid="0" snapToObjects="1">
      <p:cViewPr>
        <p:scale>
          <a:sx n="100" d="100"/>
          <a:sy n="100" d="100"/>
        </p:scale>
        <p:origin x="-2256" y="-8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interSettings" Target="printerSettings/printerSettings1.bin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6E8FB-7501-C843-9369-FCD60CCB4A56}" type="datetimeFigureOut">
              <a:rPr lang="en-US" smtClean="0"/>
              <a:t>5/27/16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05226-6688-2748-8DD8-E3AB12D452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0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“d-a-a” means donor-acceptor-acceptor”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0D974-8121-4378-8C5B-80AF56878A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18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Okay, so this slide is a </a:t>
            </a:r>
            <a:r>
              <a:rPr lang="en-US" dirty="0" err="1" smtClean="0"/>
              <a:t>clusterfuck</a:t>
            </a:r>
            <a:r>
              <a:rPr lang="en-US" dirty="0" smtClean="0"/>
              <a:t>. I</a:t>
            </a:r>
            <a:r>
              <a:rPr lang="en-US" baseline="0" dirty="0" smtClean="0"/>
              <a:t> decided to put a bunch of crap in, feel free to take out whatever you want.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0D974-8121-4378-8C5B-80AF56878A2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840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You can feel free not to use this. Basically it just shows</a:t>
            </a:r>
            <a:r>
              <a:rPr lang="en-US" baseline="0" dirty="0" smtClean="0"/>
              <a:t> that we will be collecting the difference spectrum with and without the pump light (UV-vis range).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30D974-8121-4378-8C5B-80AF56878A2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6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57538935-E887-7942-8C81-098190EB1550}" type="datetimeFigureOut">
              <a:rPr lang="en-US" smtClean="0"/>
              <a:t>5/27/16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01882801-CF67-6B48-92B6-338B68F42B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gif"/><Relationship Id="rId3" Type="http://schemas.openxmlformats.org/officeDocument/2006/relationships/image" Target="../media/image8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gi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61355"/>
            <a:ext cx="6498158" cy="1724867"/>
          </a:xfrm>
        </p:spPr>
        <p:txBody>
          <a:bodyPr/>
          <a:lstStyle/>
          <a:p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Computational Modeling of the Stark Effect for Solar-Relevant Materials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Camille </a:t>
            </a:r>
            <a:r>
              <a:rPr lang="en-US" dirty="0" err="1" smtClean="0"/>
              <a:t>Houferak</a:t>
            </a:r>
            <a:endParaRPr lang="en-US" dirty="0" smtClean="0"/>
          </a:p>
          <a:p>
            <a:r>
              <a:rPr lang="en-US" dirty="0" smtClean="0"/>
              <a:t>Emily </a:t>
            </a:r>
            <a:r>
              <a:rPr lang="en-US" dirty="0" err="1" smtClean="0"/>
              <a:t>Rabe</a:t>
            </a:r>
            <a:endParaRPr lang="en-US" dirty="0" smtClean="0"/>
          </a:p>
          <a:p>
            <a:r>
              <a:rPr lang="en-US" dirty="0" smtClean="0"/>
              <a:t>Joseph J. </a:t>
            </a:r>
            <a:r>
              <a:rPr lang="en-US" dirty="0" err="1" smtClean="0"/>
              <a:t>Radler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DTDCPB: A promising push-pull chromophore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445" y="1444532"/>
            <a:ext cx="3777615" cy="5102050"/>
          </a:xfrm>
        </p:spPr>
        <p:txBody>
          <a:bodyPr>
            <a:normAutofit fontScale="85000" lnSpcReduction="20000"/>
          </a:bodyPr>
          <a:lstStyle/>
          <a:p>
            <a:r>
              <a:rPr lang="en-US" sz="2200" dirty="0"/>
              <a:t>PCE of 9.6±0.5%</a:t>
            </a:r>
          </a:p>
          <a:p>
            <a:pPr lvl="1"/>
            <a:r>
              <a:rPr lang="en-US" dirty="0"/>
              <a:t>Among the highest of small-molecule OPV devices</a:t>
            </a:r>
          </a:p>
          <a:p>
            <a:r>
              <a:rPr lang="en-US" dirty="0" smtClean="0"/>
              <a:t>Possesses </a:t>
            </a:r>
            <a:r>
              <a:rPr lang="en-US" dirty="0" smtClean="0"/>
              <a:t>a ground state dipole</a:t>
            </a:r>
          </a:p>
          <a:p>
            <a:pPr lvl="1"/>
            <a:r>
              <a:rPr lang="en-US" dirty="0" smtClean="0"/>
              <a:t>“</a:t>
            </a:r>
            <a:r>
              <a:rPr lang="en-US" dirty="0" smtClean="0">
                <a:solidFill>
                  <a:schemeClr val="accent2"/>
                </a:solidFill>
              </a:rPr>
              <a:t>d</a:t>
            </a:r>
            <a:r>
              <a:rPr lang="en-US" dirty="0" smtClean="0"/>
              <a:t>-</a:t>
            </a:r>
            <a:r>
              <a:rPr lang="en-US" dirty="0" smtClean="0">
                <a:solidFill>
                  <a:schemeClr val="tx2"/>
                </a:solidFill>
              </a:rPr>
              <a:t>a</a:t>
            </a:r>
            <a:r>
              <a:rPr lang="en-US" dirty="0" smtClean="0"/>
              <a:t>-</a:t>
            </a:r>
            <a:r>
              <a:rPr lang="en-US" dirty="0" smtClean="0">
                <a:solidFill>
                  <a:schemeClr val="tx2"/>
                </a:solidFill>
              </a:rPr>
              <a:t>a</a:t>
            </a:r>
            <a:r>
              <a:rPr lang="en-US" dirty="0" smtClean="0"/>
              <a:t>” configuration</a:t>
            </a:r>
          </a:p>
          <a:p>
            <a:pPr lvl="1"/>
            <a:r>
              <a:rPr lang="en-US" dirty="0" smtClean="0"/>
              <a:t>Enhances hole-hopping</a:t>
            </a:r>
          </a:p>
          <a:p>
            <a:pPr lvl="1"/>
            <a:r>
              <a:rPr lang="en-US" dirty="0" smtClean="0"/>
              <a:t>Decreases charge </a:t>
            </a:r>
            <a:r>
              <a:rPr lang="en-US" dirty="0" smtClean="0"/>
              <a:t>recombination</a:t>
            </a:r>
          </a:p>
          <a:p>
            <a:r>
              <a:rPr lang="en-US" dirty="0" smtClean="0"/>
              <a:t>Nitrile </a:t>
            </a:r>
            <a:r>
              <a:rPr lang="en-US" dirty="0" smtClean="0"/>
              <a:t>groups ideal for IR spectroscopy</a:t>
            </a:r>
            <a:endParaRPr lang="en-US" dirty="0"/>
          </a:p>
          <a:p>
            <a:pPr lvl="1"/>
            <a:r>
              <a:rPr lang="en-US" dirty="0" smtClean="0"/>
              <a:t>Strong vibrational signature at 2260-2220 cm</a:t>
            </a:r>
            <a:r>
              <a:rPr lang="en-US" baseline="30000" dirty="0" smtClean="0"/>
              <a:t>-1</a:t>
            </a:r>
            <a:endParaRPr lang="en-US" dirty="0"/>
          </a:p>
          <a:p>
            <a:pPr lvl="1"/>
            <a:r>
              <a:rPr lang="en-US" dirty="0" smtClean="0"/>
              <a:t>Allows us to track Stark Shifts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7788" y="4892927"/>
            <a:ext cx="4198620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2-[(7-(4-[N,N-</a:t>
            </a:r>
            <a:r>
              <a:rPr lang="en-US" sz="1350" dirty="0" err="1"/>
              <a:t>bis</a:t>
            </a:r>
            <a:r>
              <a:rPr lang="en-US" sz="1350" dirty="0"/>
              <a:t>(4-methylphenyl)amino]phenyl)-2,1,3-benzothia-diazol-4-yl)methylene] propane-</a:t>
            </a:r>
            <a:r>
              <a:rPr lang="en-US" sz="1350" dirty="0" err="1"/>
              <a:t>dinitrile</a:t>
            </a:r>
            <a:endParaRPr lang="en-US" sz="1350" dirty="0"/>
          </a:p>
        </p:txBody>
      </p:sp>
      <p:sp>
        <p:nvSpPr>
          <p:cNvPr id="44" name="TextBox 43"/>
          <p:cNvSpPr txBox="1"/>
          <p:nvPr/>
        </p:nvSpPr>
        <p:spPr>
          <a:xfrm>
            <a:off x="5186903" y="6242044"/>
            <a:ext cx="36595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Griffith, O. L. </a:t>
            </a:r>
            <a:r>
              <a:rPr lang="en-US" sz="1350" i="1" dirty="0"/>
              <a:t>et al.</a:t>
            </a:r>
            <a:r>
              <a:rPr lang="en-US" sz="1350" dirty="0"/>
              <a:t> </a:t>
            </a:r>
            <a:r>
              <a:rPr lang="en-US" sz="1350" i="1" dirty="0"/>
              <a:t>Phys Rev B</a:t>
            </a:r>
            <a:r>
              <a:rPr lang="en-US" sz="1350" dirty="0"/>
              <a:t> </a:t>
            </a:r>
            <a:r>
              <a:rPr lang="en-US" sz="1350" b="1" dirty="0"/>
              <a:t>92,</a:t>
            </a:r>
            <a:r>
              <a:rPr lang="en-US" sz="1350" dirty="0"/>
              <a:t> (2015).</a:t>
            </a:r>
          </a:p>
          <a:p>
            <a:endParaRPr lang="en-US" sz="1350" dirty="0"/>
          </a:p>
        </p:txBody>
      </p:sp>
      <p:grpSp>
        <p:nvGrpSpPr>
          <p:cNvPr id="12" name="Group 11"/>
          <p:cNvGrpSpPr/>
          <p:nvPr/>
        </p:nvGrpSpPr>
        <p:grpSpPr>
          <a:xfrm>
            <a:off x="4671441" y="1647825"/>
            <a:ext cx="3761422" cy="2611566"/>
            <a:chOff x="5516118" y="2289810"/>
            <a:chExt cx="2061972" cy="1492063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5684520" y="2446020"/>
              <a:ext cx="1706880" cy="381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5516118" y="2289810"/>
              <a:ext cx="2061972" cy="1492063"/>
              <a:chOff x="5516118" y="2289810"/>
              <a:chExt cx="2061972" cy="1492063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5821680" y="2289810"/>
                <a:ext cx="0" cy="32897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/>
              <p:cNvGrpSpPr/>
              <p:nvPr/>
            </p:nvGrpSpPr>
            <p:grpSpPr>
              <a:xfrm>
                <a:off x="5516118" y="2544318"/>
                <a:ext cx="2061972" cy="1237555"/>
                <a:chOff x="5516118" y="2544318"/>
                <a:chExt cx="2061972" cy="1237555"/>
              </a:xfrm>
            </p:grpSpPr>
            <p:pic>
              <p:nvPicPr>
                <p:cNvPr id="38" name="Picture 37"/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16886" t="25117" r="13481"/>
                <a:stretch/>
              </p:blipFill>
              <p:spPr>
                <a:xfrm>
                  <a:off x="5543550" y="2647802"/>
                  <a:ext cx="2034540" cy="1134071"/>
                </a:xfrm>
                <a:prstGeom prst="rect">
                  <a:avLst/>
                </a:prstGeom>
              </p:spPr>
            </p:pic>
            <p:sp>
              <p:nvSpPr>
                <p:cNvPr id="4" name="Rounded Rectangle 3"/>
                <p:cNvSpPr/>
                <p:nvPr/>
              </p:nvSpPr>
              <p:spPr>
                <a:xfrm>
                  <a:off x="5516118" y="2544318"/>
                  <a:ext cx="1021842" cy="1237555"/>
                </a:xfrm>
                <a:prstGeom prst="roundRect">
                  <a:avLst/>
                </a:prstGeom>
                <a:solidFill>
                  <a:schemeClr val="accent2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0" name="Rounded Rectangle 9"/>
                <p:cNvSpPr/>
                <p:nvPr/>
              </p:nvSpPr>
              <p:spPr>
                <a:xfrm>
                  <a:off x="6560820" y="2661877"/>
                  <a:ext cx="419862" cy="788057"/>
                </a:xfrm>
                <a:prstGeom prst="roundRect">
                  <a:avLst/>
                </a:prstGeom>
                <a:solidFill>
                  <a:schemeClr val="tx2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  <p:sp>
              <p:nvSpPr>
                <p:cNvPr id="11" name="Rounded Rectangle 10"/>
                <p:cNvSpPr/>
                <p:nvPr/>
              </p:nvSpPr>
              <p:spPr>
                <a:xfrm>
                  <a:off x="6915150" y="3038095"/>
                  <a:ext cx="662178" cy="701318"/>
                </a:xfrm>
                <a:prstGeom prst="roundRect">
                  <a:avLst/>
                </a:prstGeom>
                <a:solidFill>
                  <a:schemeClr val="tx2">
                    <a:alpha val="46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35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677166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DTDCPB Crystal Packing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719" b="68108"/>
          <a:stretch/>
        </p:blipFill>
        <p:spPr>
          <a:xfrm>
            <a:off x="856745" y="1676400"/>
            <a:ext cx="7628859" cy="1866900"/>
          </a:xfr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61445" y="4038600"/>
            <a:ext cx="8465055" cy="2286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Packing orientation</a:t>
            </a:r>
          </a:p>
          <a:p>
            <a:pPr lvl="1"/>
            <a:r>
              <a:rPr lang="en-US" dirty="0" smtClean="0"/>
              <a:t>Grains may be randomly oriented</a:t>
            </a:r>
          </a:p>
          <a:p>
            <a:pPr lvl="1"/>
            <a:r>
              <a:rPr lang="en-US" dirty="0" smtClean="0"/>
              <a:t>Assume ordered structure locally</a:t>
            </a:r>
          </a:p>
          <a:p>
            <a:r>
              <a:rPr lang="en-US" dirty="0" smtClean="0"/>
              <a:t>Note the dimer formation</a:t>
            </a:r>
          </a:p>
          <a:p>
            <a:pPr lvl="1"/>
            <a:r>
              <a:rPr lang="en-US" dirty="0" smtClean="0"/>
              <a:t>π-stacked configuration</a:t>
            </a:r>
          </a:p>
          <a:p>
            <a:pPr lvl="1"/>
            <a:r>
              <a:rPr lang="en-US" dirty="0" smtClean="0"/>
              <a:t>Extended structure is alternating “</a:t>
            </a:r>
            <a:r>
              <a:rPr lang="en-US" dirty="0" err="1" smtClean="0"/>
              <a:t>houndstooth</a:t>
            </a:r>
            <a:r>
              <a:rPr lang="en-US" dirty="0" smtClean="0"/>
              <a:t>”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1203" y="6254744"/>
            <a:ext cx="36595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smtClean="0"/>
              <a:t>Ting, H.C., </a:t>
            </a:r>
            <a:r>
              <a:rPr lang="en-US" sz="1350" i="1" dirty="0" smtClean="0"/>
              <a:t>et al.  </a:t>
            </a:r>
            <a:r>
              <a:rPr lang="en-US" sz="1350" i="1" dirty="0" err="1" smtClean="0"/>
              <a:t>ChemSusChem</a:t>
            </a:r>
            <a:r>
              <a:rPr lang="en-US" sz="1350" i="1" dirty="0" smtClean="0"/>
              <a:t> (2014)</a:t>
            </a:r>
            <a:endParaRPr lang="en-US" sz="1350" dirty="0"/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039435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Stark Effect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Effect of an electric field on absorption or emission spectrum</a:t>
            </a:r>
          </a:p>
          <a:p>
            <a:r>
              <a:rPr lang="en-US" dirty="0" smtClean="0"/>
              <a:t>Change in dipole moment, </a:t>
            </a:r>
            <a:r>
              <a:rPr lang="en-US" dirty="0" err="1" smtClean="0"/>
              <a:t>Δμ</a:t>
            </a:r>
            <a:endParaRPr lang="en-US" dirty="0"/>
          </a:p>
          <a:p>
            <a:pPr lvl="1"/>
            <a:r>
              <a:rPr lang="en-US" dirty="0" smtClean="0"/>
              <a:t>Degree of charge separation for a transition</a:t>
            </a:r>
          </a:p>
          <a:p>
            <a:r>
              <a:rPr lang="en-US" dirty="0" smtClean="0"/>
              <a:t>Change in </a:t>
            </a:r>
            <a:r>
              <a:rPr lang="en-US" dirty="0" err="1" smtClean="0"/>
              <a:t>polarizability</a:t>
            </a:r>
            <a:r>
              <a:rPr lang="en-US" dirty="0" smtClean="0"/>
              <a:t>, </a:t>
            </a:r>
            <a:r>
              <a:rPr lang="en-US" dirty="0" err="1" smtClean="0"/>
              <a:t>Δ</a:t>
            </a:r>
            <a:r>
              <a:rPr lang="en-US" dirty="0" smtClean="0"/>
              <a:t>α</a:t>
            </a:r>
          </a:p>
          <a:p>
            <a:pPr lvl="1"/>
            <a:r>
              <a:rPr lang="en-US" dirty="0" smtClean="0"/>
              <a:t>Sensitivity of transition to the field</a:t>
            </a:r>
          </a:p>
        </p:txBody>
      </p: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950" y="4734863"/>
            <a:ext cx="4560783" cy="76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4183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40588"/>
            <a:ext cx="8042276" cy="768051"/>
          </a:xfrm>
        </p:spPr>
        <p:txBody>
          <a:bodyPr/>
          <a:lstStyle/>
          <a:p>
            <a:r>
              <a:rPr lang="en-US" dirty="0" smtClean="0"/>
              <a:t>Expected Effect on Spectra</a:t>
            </a:r>
            <a:endParaRPr lang="en-US" dirty="0"/>
          </a:p>
        </p:txBody>
      </p:sp>
      <p:pic>
        <p:nvPicPr>
          <p:cNvPr id="6" name="Picture 5" descr="Screen Shot 2016-05-25 at 11.53.55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88"/>
          <a:stretch/>
        </p:blipFill>
        <p:spPr>
          <a:xfrm>
            <a:off x="549275" y="2013453"/>
            <a:ext cx="3892973" cy="3384592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607908" y="1901741"/>
            <a:ext cx="3983644" cy="3661971"/>
          </a:xfrm>
        </p:spPr>
        <p:txBody>
          <a:bodyPr>
            <a:normAutofit/>
          </a:bodyPr>
          <a:lstStyle/>
          <a:p>
            <a:r>
              <a:rPr lang="en-US" dirty="0" smtClean="0"/>
              <a:t>Linear Stark effect: line broadening </a:t>
            </a:r>
          </a:p>
          <a:p>
            <a:r>
              <a:rPr lang="en-US" dirty="0" smtClean="0"/>
              <a:t>Quadratic Stark effect: frequency shift</a:t>
            </a:r>
          </a:p>
          <a:p>
            <a:r>
              <a:rPr lang="en-US" dirty="0" smtClean="0"/>
              <a:t>Stark spectrum = “field on minus field off”</a:t>
            </a:r>
          </a:p>
          <a:p>
            <a:pPr lvl="1"/>
            <a:r>
              <a:rPr lang="en-US" dirty="0" smtClean="0"/>
              <a:t>Analyze this based on derivatives</a:t>
            </a:r>
          </a:p>
        </p:txBody>
      </p:sp>
    </p:spTree>
    <p:extLst>
      <p:ext uri="{BB962C8B-B14F-4D97-AF65-F5344CB8AC3E}">
        <p14:creationId xmlns:p14="http://schemas.microsoft.com/office/powerpoint/2010/main" val="25428325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Experimental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Perform pump-probe spectroscopy in a DTDCPB:PCBM blend</a:t>
            </a:r>
          </a:p>
          <a:p>
            <a:pPr lvl="1"/>
            <a:r>
              <a:rPr lang="en-US" dirty="0"/>
              <a:t>Electric fields created by charge-transfer states and free charges will be distinct</a:t>
            </a:r>
          </a:p>
          <a:p>
            <a:pPr lvl="1"/>
            <a:r>
              <a:rPr lang="en-US" dirty="0"/>
              <a:t>This experiment allows for in-operando studies of these pathways</a:t>
            </a:r>
          </a:p>
          <a:p>
            <a:r>
              <a:rPr lang="en-US" dirty="0" smtClean="0"/>
              <a:t>Perform </a:t>
            </a:r>
            <a:r>
              <a:rPr lang="en-US" dirty="0" smtClean="0"/>
              <a:t>a calibration curve for DTDCPB under various applied electric fields</a:t>
            </a:r>
          </a:p>
          <a:p>
            <a:r>
              <a:rPr lang="en-US" dirty="0" smtClean="0"/>
              <a:t>Determine dependent parameters ( </a:t>
            </a:r>
            <a:r>
              <a:rPr lang="el-GR" dirty="0" smtClean="0"/>
              <a:t>Δα</a:t>
            </a:r>
            <a:r>
              <a:rPr lang="en-US" dirty="0" smtClean="0"/>
              <a:t> and </a:t>
            </a:r>
            <a:r>
              <a:rPr lang="el-GR" dirty="0" smtClean="0"/>
              <a:t>Δµ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Allows us to back out the electric field felt by the molecule during a transition</a:t>
            </a:r>
          </a:p>
          <a:p>
            <a:r>
              <a:rPr lang="en-US" b="1" dirty="0" smtClean="0"/>
              <a:t>It </a:t>
            </a:r>
            <a:r>
              <a:rPr lang="en-US" b="1" dirty="0" smtClean="0"/>
              <a:t>is crucial to first understand DTDCPB’s response to electric fields in both the ground and excited state, before moving to complex  </a:t>
            </a:r>
            <a:r>
              <a:rPr lang="en-US" b="1" i="1" dirty="0" smtClean="0"/>
              <a:t>in operando</a:t>
            </a:r>
            <a:r>
              <a:rPr lang="en-US" b="1" dirty="0" smtClean="0"/>
              <a:t> studies. </a:t>
            </a:r>
          </a:p>
        </p:txBody>
      </p:sp>
    </p:spTree>
    <p:extLst>
      <p:ext uri="{BB962C8B-B14F-4D97-AF65-F5344CB8AC3E}">
        <p14:creationId xmlns:p14="http://schemas.microsoft.com/office/powerpoint/2010/main" val="1964601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Excited-State Pump-probe Vibrational Spectroscopy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68"/>
          <a:stretch/>
        </p:blipFill>
        <p:spPr>
          <a:xfrm>
            <a:off x="537992" y="1822557"/>
            <a:ext cx="8064841" cy="4340118"/>
          </a:xfrm>
        </p:spPr>
      </p:pic>
    </p:spTree>
    <p:extLst>
      <p:ext uri="{BB962C8B-B14F-4D97-AF65-F5344CB8AC3E}">
        <p14:creationId xmlns:p14="http://schemas.microsoft.com/office/powerpoint/2010/main" val="14779616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Computational 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Frequencies of ground and excited states to obtain equilibrium behavior.</a:t>
            </a:r>
          </a:p>
          <a:p>
            <a:pPr lvl="1"/>
            <a:r>
              <a:rPr lang="en-US" dirty="0" smtClean="0"/>
              <a:t>With </a:t>
            </a:r>
            <a:r>
              <a:rPr lang="en-US" i="1" dirty="0" smtClean="0"/>
              <a:t>and</a:t>
            </a:r>
            <a:r>
              <a:rPr lang="en-US" dirty="0" smtClean="0"/>
              <a:t> without static electric field from surrounding media</a:t>
            </a:r>
          </a:p>
          <a:p>
            <a:r>
              <a:rPr lang="en-US" dirty="0" smtClean="0"/>
              <a:t>Move on to dynamics with Born-Oppenheimer MD (BOMD) in Gaussian.</a:t>
            </a:r>
          </a:p>
          <a:p>
            <a:pPr lvl="1"/>
            <a:r>
              <a:rPr lang="en-US" dirty="0" smtClean="0"/>
              <a:t>Again with </a:t>
            </a:r>
            <a:r>
              <a:rPr lang="en-US" i="1" dirty="0" smtClean="0"/>
              <a:t>and</a:t>
            </a:r>
            <a:r>
              <a:rPr lang="en-US" dirty="0" smtClean="0"/>
              <a:t> without field for ground and excited states</a:t>
            </a:r>
          </a:p>
          <a:p>
            <a:r>
              <a:rPr lang="en-US" dirty="0" smtClean="0"/>
              <a:t>Calibrate Stark shifts from static electric field to understand the surrounding media</a:t>
            </a:r>
          </a:p>
          <a:p>
            <a:pPr lvl="1"/>
            <a:r>
              <a:rPr lang="en-US" dirty="0" smtClean="0"/>
              <a:t>This tells us how polarized the environment is.</a:t>
            </a:r>
          </a:p>
          <a:p>
            <a:pPr lvl="1"/>
            <a:r>
              <a:rPr lang="en-US" dirty="0" smtClean="0"/>
              <a:t>Compare this to experiment.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2008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Some Nuts and Bolts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Level of theory</a:t>
            </a:r>
          </a:p>
          <a:p>
            <a:pPr lvl="1"/>
            <a:r>
              <a:rPr lang="en-US" dirty="0" smtClean="0"/>
              <a:t>B3LYP/6-311G(</a:t>
            </a:r>
            <a:r>
              <a:rPr lang="en-US" dirty="0" err="1" smtClean="0"/>
              <a:t>d,p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DFT functional scales well for larger molecules</a:t>
            </a:r>
          </a:p>
          <a:p>
            <a:pPr lvl="1"/>
            <a:r>
              <a:rPr lang="en-US" dirty="0" smtClean="0"/>
              <a:t>Polarization is included in the model</a:t>
            </a:r>
          </a:p>
          <a:p>
            <a:r>
              <a:rPr lang="en-US" dirty="0" smtClean="0"/>
              <a:t>Electric Field strengths</a:t>
            </a:r>
          </a:p>
          <a:p>
            <a:pPr lvl="1"/>
            <a:r>
              <a:rPr lang="en-US" dirty="0" smtClean="0"/>
              <a:t>Examine two dipole orientations (+/- along Z)</a:t>
            </a:r>
          </a:p>
          <a:p>
            <a:pPr lvl="1"/>
            <a:r>
              <a:rPr lang="en-US" dirty="0"/>
              <a:t>Examine a number of field strengths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Calibrate Stark effect as a function of field magnitude</a:t>
            </a:r>
          </a:p>
          <a:p>
            <a:r>
              <a:rPr lang="en-US" dirty="0" smtClean="0"/>
              <a:t>Create ensemble of different orientations </a:t>
            </a:r>
          </a:p>
          <a:p>
            <a:pPr lvl="1"/>
            <a:r>
              <a:rPr lang="en-US" dirty="0" smtClean="0"/>
              <a:t>Check to see if field orientation does in fact affect the frequencies and Stark shift.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98125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68368"/>
            <a:ext cx="8042276" cy="669832"/>
          </a:xfrm>
        </p:spPr>
        <p:txBody>
          <a:bodyPr/>
          <a:lstStyle/>
          <a:p>
            <a:r>
              <a:rPr lang="en-US" sz="4000" dirty="0" smtClean="0"/>
              <a:t>DTDCPB IR Spectrum - No Field</a:t>
            </a:r>
            <a:endParaRPr lang="en-US" sz="4000" dirty="0"/>
          </a:p>
        </p:txBody>
      </p:sp>
      <p:pic>
        <p:nvPicPr>
          <p:cNvPr id="4" name="Picture 3" descr="CN1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-6733" y="1899032"/>
            <a:ext cx="5183635" cy="3415026"/>
          </a:xfrm>
          <a:prstGeom prst="rect">
            <a:avLst/>
          </a:prstGeom>
        </p:spPr>
      </p:pic>
      <p:pic>
        <p:nvPicPr>
          <p:cNvPr id="5" name="Picture 4" descr="CN2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714090" y="1899019"/>
            <a:ext cx="5183558" cy="3414974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036305" y="6160970"/>
            <a:ext cx="3129295" cy="70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Asymmetric stretch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693905" y="6198285"/>
            <a:ext cx="3129295" cy="7097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Symmetric stretch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285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Field0_IRSpec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9" b="181"/>
          <a:stretch/>
        </p:blipFill>
        <p:spPr>
          <a:xfrm>
            <a:off x="549275" y="1110931"/>
            <a:ext cx="8042276" cy="4837370"/>
          </a:xfrm>
        </p:spPr>
      </p:pic>
      <p:cxnSp>
        <p:nvCxnSpPr>
          <p:cNvPr id="7" name="Straight Arrow Connector 6"/>
          <p:cNvCxnSpPr/>
          <p:nvPr/>
        </p:nvCxnSpPr>
        <p:spPr>
          <a:xfrm flipH="1">
            <a:off x="6162921" y="4513829"/>
            <a:ext cx="812385" cy="6723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Content Placeholder 2"/>
          <p:cNvSpPr txBox="1">
            <a:spLocks/>
          </p:cNvSpPr>
          <p:nvPr/>
        </p:nvSpPr>
        <p:spPr>
          <a:xfrm>
            <a:off x="4912339" y="4162276"/>
            <a:ext cx="3314223" cy="4449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smtClean="0"/>
              <a:t>CN stretching frequencies</a:t>
            </a:r>
            <a:endParaRPr lang="en-US" sz="2000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49275" y="168368"/>
            <a:ext cx="8042276" cy="66983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smtClean="0"/>
              <a:t>DTDCPB IR Spectrum - No Field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352014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16695"/>
            <a:ext cx="8042276" cy="1336956"/>
          </a:xfrm>
        </p:spPr>
        <p:txBody>
          <a:bodyPr/>
          <a:lstStyle/>
          <a:p>
            <a:r>
              <a:rPr lang="en-US" sz="4400" dirty="0" smtClean="0"/>
              <a:t>Looking at CN Frequencies in External Field</a:t>
            </a:r>
            <a:endParaRPr lang="en-US" sz="4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6472873"/>
              </p:ext>
            </p:extLst>
          </p:nvPr>
        </p:nvGraphicFramePr>
        <p:xfrm>
          <a:off x="1118879" y="1705601"/>
          <a:ext cx="7060998" cy="34866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353666"/>
                <a:gridCol w="2353666"/>
                <a:gridCol w="2353666"/>
              </a:tblGrid>
              <a:tr h="743687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Applied Field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smtClean="0"/>
                        <a:t>Symmetric Stretch (cm</a:t>
                      </a:r>
                      <a:r>
                        <a:rPr lang="en-US" sz="2200" baseline="30000" dirty="0" smtClean="0"/>
                        <a:t>-1</a:t>
                      </a:r>
                      <a:r>
                        <a:rPr lang="en-US" sz="2200" baseline="0" dirty="0" smtClean="0"/>
                        <a:t>)</a:t>
                      </a:r>
                      <a:endParaRPr lang="en-US" sz="2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dirty="0" smtClean="0"/>
                        <a:t>Asymmetric Stretch (cm</a:t>
                      </a:r>
                      <a:r>
                        <a:rPr lang="en-US" sz="2200" baseline="30000" dirty="0" smtClean="0"/>
                        <a:t>-1</a:t>
                      </a:r>
                      <a:r>
                        <a:rPr lang="en-US" sz="2200" baseline="0" dirty="0" smtClean="0"/>
                        <a:t>)*</a:t>
                      </a:r>
                      <a:endParaRPr lang="en-US" sz="2200" dirty="0" smtClean="0"/>
                    </a:p>
                  </a:txBody>
                  <a:tcPr anchor="ctr"/>
                </a:tc>
              </a:tr>
              <a:tr h="5449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0.5 V/</a:t>
                      </a:r>
                      <a:r>
                        <a:rPr lang="en-US" dirty="0" err="1" smtClean="0"/>
                        <a:t>Å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2331.56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2316.55</a:t>
                      </a:r>
                      <a:endParaRPr lang="en-US" dirty="0"/>
                    </a:p>
                  </a:txBody>
                  <a:tcPr anchor="ctr"/>
                </a:tc>
              </a:tr>
              <a:tr h="5449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0.25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V/</a:t>
                      </a:r>
                      <a:r>
                        <a:rPr lang="en-US" dirty="0" err="1" smtClean="0"/>
                        <a:t>Å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2338.33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2326.76</a:t>
                      </a:r>
                      <a:endParaRPr lang="en-US" dirty="0"/>
                    </a:p>
                  </a:txBody>
                  <a:tcPr anchor="ctr"/>
                </a:tc>
              </a:tr>
              <a:tr h="544927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 V/</a:t>
                      </a:r>
                      <a:r>
                        <a:rPr lang="en-US" dirty="0" err="1" smtClean="0"/>
                        <a:t>Å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2346.48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2334.28</a:t>
                      </a:r>
                      <a:endParaRPr lang="en-US" dirty="0"/>
                    </a:p>
                  </a:txBody>
                  <a:tcPr anchor="ctr"/>
                </a:tc>
              </a:tr>
              <a:tr h="5449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-0.25 V/</a:t>
                      </a:r>
                      <a:r>
                        <a:rPr lang="en-US" dirty="0" err="1" smtClean="0"/>
                        <a:t>Å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2338.97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2328.01</a:t>
                      </a:r>
                      <a:endParaRPr lang="en-US" dirty="0"/>
                    </a:p>
                  </a:txBody>
                  <a:tcPr anchor="ctr"/>
                </a:tc>
              </a:tr>
              <a:tr h="54492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-0.5 V/</a:t>
                      </a:r>
                      <a:r>
                        <a:rPr lang="en-US" dirty="0" err="1" smtClean="0"/>
                        <a:t>Å</a:t>
                      </a:r>
                      <a:endParaRPr lang="en-US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2331.21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2318.22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1595105" y="5407022"/>
            <a:ext cx="7639939" cy="11588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*Asymmetric stretch very low </a:t>
            </a:r>
            <a:r>
              <a:rPr lang="en-US" dirty="0" smtClean="0"/>
              <a:t>intensity</a:t>
            </a:r>
          </a:p>
          <a:p>
            <a:pPr marL="0" indent="0">
              <a:buNone/>
            </a:pPr>
            <a:r>
              <a:rPr lang="en-US" dirty="0" smtClean="0"/>
              <a:t>Seems that </a:t>
            </a:r>
            <a:r>
              <a:rPr lang="en-US" dirty="0" err="1" smtClean="0"/>
              <a:t>polarizability</a:t>
            </a:r>
            <a:r>
              <a:rPr lang="en-US" dirty="0" smtClean="0"/>
              <a:t> dominates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2406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/>
              <a:t>Born-Oppenheimer Molecular Dynamics (BOMD)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 err="1" smtClean="0"/>
              <a:t>Ab</a:t>
            </a:r>
            <a:r>
              <a:rPr lang="en-US" i="1" dirty="0" smtClean="0"/>
              <a:t> initio </a:t>
            </a:r>
            <a:r>
              <a:rPr lang="en-US" dirty="0" smtClean="0"/>
              <a:t>molecular dynamics method</a:t>
            </a:r>
          </a:p>
          <a:p>
            <a:r>
              <a:rPr lang="en-US" dirty="0" smtClean="0"/>
              <a:t>Uses Born-Oppenheimer approximate QM methods, then propagates the nuclei classically</a:t>
            </a:r>
          </a:p>
          <a:p>
            <a:r>
              <a:rPr lang="en-US" dirty="0" smtClean="0"/>
              <a:t>Captures nuclear dynamics</a:t>
            </a:r>
          </a:p>
          <a:p>
            <a:pPr lvl="1"/>
            <a:r>
              <a:rPr lang="en-US" dirty="0" smtClean="0"/>
              <a:t>Harmonic vibration – IR spectra</a:t>
            </a:r>
          </a:p>
          <a:p>
            <a:pPr lvl="1"/>
            <a:r>
              <a:rPr lang="en-US" dirty="0" err="1" smtClean="0"/>
              <a:t>Anharmonic</a:t>
            </a:r>
            <a:r>
              <a:rPr lang="en-US" dirty="0" smtClean="0"/>
              <a:t> motion – Raman spectra</a:t>
            </a:r>
          </a:p>
          <a:p>
            <a:r>
              <a:rPr lang="en-US" dirty="0" smtClean="0"/>
              <a:t>Can generate dipole vector oscillation time series as output (useful for simulating spectra!)</a:t>
            </a:r>
          </a:p>
          <a:p>
            <a:r>
              <a:rPr lang="en-US" dirty="0" smtClean="0"/>
              <a:t>Although does not explicitly couple nuclear dynamics with an applied field (might be an issue.)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20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Specifics of BOMD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600200"/>
            <a:ext cx="8042276" cy="46989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Thermal sampling trajectories to deposit vibrational quanta into normal modes</a:t>
            </a:r>
          </a:p>
          <a:p>
            <a:pPr lvl="1"/>
            <a:r>
              <a:rPr lang="en-US" dirty="0" smtClean="0"/>
              <a:t>Monte-Carlo subject to Boltzmann distribution populates the modes randomly</a:t>
            </a:r>
          </a:p>
          <a:p>
            <a:pPr lvl="1"/>
            <a:r>
              <a:rPr lang="en-US" dirty="0" smtClean="0"/>
              <a:t>Only two or three steps needed (Velocity </a:t>
            </a:r>
            <a:r>
              <a:rPr lang="en-US" dirty="0" err="1" smtClean="0"/>
              <a:t>Verlet</a:t>
            </a:r>
            <a:r>
              <a:rPr lang="en-US" dirty="0" smtClean="0"/>
              <a:t> integration)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 smtClean="0"/>
              <a:t>“Production MD” run on each of the thermal sampling trajectories using </a:t>
            </a:r>
            <a:r>
              <a:rPr lang="en-US" i="1" dirty="0" err="1" smtClean="0"/>
              <a:t>ab</a:t>
            </a:r>
            <a:r>
              <a:rPr lang="en-US" i="1" dirty="0" smtClean="0"/>
              <a:t> initio</a:t>
            </a:r>
            <a:r>
              <a:rPr lang="en-US" dirty="0" smtClean="0"/>
              <a:t> potentials and Velocity </a:t>
            </a:r>
            <a:r>
              <a:rPr lang="en-US" dirty="0" err="1" smtClean="0"/>
              <a:t>Verlet</a:t>
            </a:r>
            <a:endParaRPr lang="en-US" dirty="0" smtClean="0"/>
          </a:p>
          <a:p>
            <a:pPr lvl="1"/>
            <a:r>
              <a:rPr lang="en-US" dirty="0" smtClean="0"/>
              <a:t>Use time steps corresponding to the vibrational features desired (low frequency features require longer simulations)</a:t>
            </a:r>
          </a:p>
          <a:p>
            <a:pPr lvl="1"/>
            <a:r>
              <a:rPr lang="en-US" b="1" dirty="0" smtClean="0"/>
              <a:t>From this we obtain our dipole time series for IR!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325551" y="3220865"/>
            <a:ext cx="4480088" cy="1204381"/>
            <a:chOff x="2475864" y="3847439"/>
            <a:chExt cx="4480088" cy="120438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5864" y="3847439"/>
              <a:ext cx="4480088" cy="561723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5864" y="4460889"/>
              <a:ext cx="4480088" cy="5909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85622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Simulating Spectra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444532"/>
            <a:ext cx="8042276" cy="5070567"/>
          </a:xfrm>
        </p:spPr>
        <p:txBody>
          <a:bodyPr>
            <a:normAutofit/>
          </a:bodyPr>
          <a:lstStyle/>
          <a:p>
            <a:r>
              <a:rPr lang="en-US" i="1" dirty="0" smtClean="0"/>
              <a:t>Standard</a:t>
            </a:r>
            <a:r>
              <a:rPr lang="en-US" dirty="0" smtClean="0"/>
              <a:t> frequency calculations</a:t>
            </a:r>
          </a:p>
          <a:p>
            <a:pPr lvl="1"/>
            <a:r>
              <a:rPr lang="en-US" dirty="0" smtClean="0"/>
              <a:t>Vibrational intensities derived from dipole (electron density)</a:t>
            </a:r>
          </a:p>
          <a:p>
            <a:pPr lvl="1"/>
            <a:endParaRPr lang="en-US" dirty="0"/>
          </a:p>
          <a:p>
            <a:pPr lvl="1"/>
            <a:r>
              <a:rPr lang="en-US" dirty="0" err="1" smtClean="0"/>
              <a:t>Diagonalizing</a:t>
            </a:r>
            <a:r>
              <a:rPr lang="en-US" dirty="0" smtClean="0"/>
              <a:t> Hessian yields vibrational frequencies (feature built into Gaussian)</a:t>
            </a:r>
          </a:p>
          <a:p>
            <a:r>
              <a:rPr lang="en-US" dirty="0"/>
              <a:t>BOMD frequency </a:t>
            </a:r>
            <a:r>
              <a:rPr lang="en-US" dirty="0" smtClean="0"/>
              <a:t>calculations (a little different)</a:t>
            </a:r>
            <a:endParaRPr lang="en-US" dirty="0"/>
          </a:p>
          <a:p>
            <a:pPr lvl="1"/>
            <a:r>
              <a:rPr lang="en-US" dirty="0"/>
              <a:t>BOMD dipole derived from electron </a:t>
            </a:r>
            <a:r>
              <a:rPr lang="en-US" dirty="0" smtClean="0"/>
              <a:t>density (different)</a:t>
            </a:r>
            <a:endParaRPr lang="en-US" dirty="0"/>
          </a:p>
          <a:p>
            <a:pPr marL="349250" lvl="1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Spectra obtained in </a:t>
            </a:r>
            <a:r>
              <a:rPr lang="en-US" dirty="0" err="1" smtClean="0"/>
              <a:t>Postprocessing</a:t>
            </a:r>
            <a:r>
              <a:rPr lang="en-US" dirty="0"/>
              <a:t> </a:t>
            </a:r>
            <a:r>
              <a:rPr lang="en-US" dirty="0" smtClean="0"/>
              <a:t>(not in Gaussian)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234" y="5645579"/>
            <a:ext cx="4761366" cy="7742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75" y="4842628"/>
            <a:ext cx="7302725" cy="4532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4100" y="2408443"/>
            <a:ext cx="2222500" cy="61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9593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Calibrating the Stark shift with BOMD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46100" y="1444532"/>
            <a:ext cx="8238633" cy="5032468"/>
            <a:chOff x="844637" y="787226"/>
            <a:chExt cx="10427267" cy="5671191"/>
          </a:xfrm>
        </p:grpSpPr>
        <p:sp>
          <p:nvSpPr>
            <p:cNvPr id="5" name="Rectangle 4"/>
            <p:cNvSpPr/>
            <p:nvPr/>
          </p:nvSpPr>
          <p:spPr>
            <a:xfrm>
              <a:off x="844637" y="3677162"/>
              <a:ext cx="1551398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</a:t>
              </a:r>
            </a:p>
            <a:p>
              <a:pPr algn="ctr"/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3012485" y="3677160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</a:t>
              </a:r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12485" y="2829492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</a:t>
              </a:r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12485" y="4524828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</a:t>
              </a:r>
              <a:r>
                <a:rPr lang="en-US" sz="1100" dirty="0" err="1" smtClean="0"/>
                <a:t>opt+freq</a:t>
              </a:r>
              <a:endParaRPr lang="en-US" sz="11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241979" y="2829492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Thermal Sampling</a:t>
              </a:r>
              <a:endParaRPr lang="en-US" sz="11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241979" y="3677160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Thermal Sampling</a:t>
              </a:r>
              <a:endParaRPr lang="en-US" sz="11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241979" y="4524827"/>
              <a:ext cx="1571946" cy="68836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DTDCPB + 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Thermal Sampling</a:t>
              </a:r>
              <a:endParaRPr lang="en-US" sz="1100" dirty="0"/>
            </a:p>
          </p:txBody>
        </p:sp>
        <p:cxnSp>
          <p:nvCxnSpPr>
            <p:cNvPr id="12" name="Elbow Connector 11"/>
            <p:cNvCxnSpPr>
              <a:stCxn id="5" idx="3"/>
              <a:endCxn id="7" idx="1"/>
            </p:cNvCxnSpPr>
            <p:nvPr/>
          </p:nvCxnSpPr>
          <p:spPr>
            <a:xfrm flipV="1">
              <a:off x="2396035" y="3173677"/>
              <a:ext cx="616450" cy="84767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5" idx="3"/>
              <a:endCxn id="6" idx="1"/>
            </p:cNvCxnSpPr>
            <p:nvPr/>
          </p:nvCxnSpPr>
          <p:spPr>
            <a:xfrm flipV="1">
              <a:off x="2396035" y="4021345"/>
              <a:ext cx="616450" cy="2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Elbow Connector 13"/>
            <p:cNvCxnSpPr>
              <a:stCxn id="5" idx="3"/>
              <a:endCxn id="8" idx="1"/>
            </p:cNvCxnSpPr>
            <p:nvPr/>
          </p:nvCxnSpPr>
          <p:spPr>
            <a:xfrm>
              <a:off x="2396035" y="4021347"/>
              <a:ext cx="616450" cy="847666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7" idx="3"/>
              <a:endCxn id="9" idx="1"/>
            </p:cNvCxnSpPr>
            <p:nvPr/>
          </p:nvCxnSpPr>
          <p:spPr>
            <a:xfrm>
              <a:off x="4584431" y="3173677"/>
              <a:ext cx="65754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6" idx="3"/>
              <a:endCxn id="10" idx="1"/>
            </p:cNvCxnSpPr>
            <p:nvPr/>
          </p:nvCxnSpPr>
          <p:spPr>
            <a:xfrm>
              <a:off x="4584431" y="4021345"/>
              <a:ext cx="657548" cy="0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8" idx="3"/>
              <a:endCxn id="11" idx="1"/>
            </p:cNvCxnSpPr>
            <p:nvPr/>
          </p:nvCxnSpPr>
          <p:spPr>
            <a:xfrm flipV="1">
              <a:off x="4584431" y="4869012"/>
              <a:ext cx="657548" cy="1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7471473" y="1585043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1</a:t>
              </a:r>
              <a:endParaRPr lang="en-US" sz="11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471473" y="2145482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2</a:t>
              </a:r>
              <a:endParaRPr lang="en-US" sz="1100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471473" y="2705921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 smtClean="0"/>
                <a:t>1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3</a:t>
              </a:r>
              <a:endParaRPr lang="en-US" sz="1100" dirty="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471473" y="3265974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1</a:t>
              </a:r>
              <a:endParaRPr lang="en-US" sz="11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471473" y="3826027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2</a:t>
              </a:r>
              <a:endParaRPr lang="en-US" sz="1100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471473" y="4386466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2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3</a:t>
              </a:r>
              <a:endParaRPr lang="en-US" sz="1100" dirty="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71473" y="4946905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1</a:t>
              </a:r>
              <a:endParaRPr lang="en-US" sz="1100" dirty="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471473" y="5507344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2</a:t>
              </a:r>
              <a:endParaRPr lang="en-US" sz="1100" dirty="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471473" y="6067783"/>
              <a:ext cx="1571946" cy="39063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 smtClean="0"/>
                <a:t>E</a:t>
              </a:r>
              <a:r>
                <a:rPr lang="en-US" sz="1100" baseline="-25000" dirty="0"/>
                <a:t>3</a:t>
              </a:r>
              <a:r>
                <a:rPr lang="en-US" sz="1100" baseline="30000" dirty="0" smtClean="0"/>
                <a:t>field </a:t>
              </a:r>
              <a:r>
                <a:rPr lang="en-US" sz="1100" dirty="0" smtClean="0"/>
                <a:t> BOMD Trajectory 3</a:t>
              </a:r>
              <a:endParaRPr lang="en-US" sz="1100" dirty="0"/>
            </a:p>
          </p:txBody>
        </p:sp>
        <p:cxnSp>
          <p:nvCxnSpPr>
            <p:cNvPr id="27" name="Elbow Connector 26"/>
            <p:cNvCxnSpPr>
              <a:stCxn id="9" idx="3"/>
              <a:endCxn id="18" idx="1"/>
            </p:cNvCxnSpPr>
            <p:nvPr/>
          </p:nvCxnSpPr>
          <p:spPr>
            <a:xfrm flipV="1">
              <a:off x="6813925" y="1780360"/>
              <a:ext cx="657548" cy="1393317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stCxn id="9" idx="3"/>
              <a:endCxn id="19" idx="1"/>
            </p:cNvCxnSpPr>
            <p:nvPr/>
          </p:nvCxnSpPr>
          <p:spPr>
            <a:xfrm flipV="1">
              <a:off x="6813925" y="2340799"/>
              <a:ext cx="657548" cy="83287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9" idx="3"/>
              <a:endCxn id="20" idx="1"/>
            </p:cNvCxnSpPr>
            <p:nvPr/>
          </p:nvCxnSpPr>
          <p:spPr>
            <a:xfrm flipV="1">
              <a:off x="6813925" y="2901238"/>
              <a:ext cx="657548" cy="27243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10" idx="3"/>
              <a:endCxn id="21" idx="1"/>
            </p:cNvCxnSpPr>
            <p:nvPr/>
          </p:nvCxnSpPr>
          <p:spPr>
            <a:xfrm flipV="1">
              <a:off x="6813925" y="3461291"/>
              <a:ext cx="657548" cy="560054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10" idx="3"/>
              <a:endCxn id="22" idx="1"/>
            </p:cNvCxnSpPr>
            <p:nvPr/>
          </p:nvCxnSpPr>
          <p:spPr>
            <a:xfrm flipV="1">
              <a:off x="6813925" y="4021344"/>
              <a:ext cx="657548" cy="1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/>
            <p:cNvCxnSpPr>
              <a:stCxn id="10" idx="3"/>
              <a:endCxn id="23" idx="1"/>
            </p:cNvCxnSpPr>
            <p:nvPr/>
          </p:nvCxnSpPr>
          <p:spPr>
            <a:xfrm>
              <a:off x="6813925" y="4021345"/>
              <a:ext cx="657548" cy="56043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>
              <a:stCxn id="11" idx="3"/>
              <a:endCxn id="26" idx="1"/>
            </p:cNvCxnSpPr>
            <p:nvPr/>
          </p:nvCxnSpPr>
          <p:spPr>
            <a:xfrm>
              <a:off x="6813925" y="4869012"/>
              <a:ext cx="657548" cy="139408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11" idx="3"/>
              <a:endCxn id="26" idx="1"/>
            </p:cNvCxnSpPr>
            <p:nvPr/>
          </p:nvCxnSpPr>
          <p:spPr>
            <a:xfrm>
              <a:off x="6813925" y="4869012"/>
              <a:ext cx="657548" cy="1394088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/>
            <p:cNvCxnSpPr>
              <a:stCxn id="11" idx="3"/>
              <a:endCxn id="25" idx="1"/>
            </p:cNvCxnSpPr>
            <p:nvPr/>
          </p:nvCxnSpPr>
          <p:spPr>
            <a:xfrm>
              <a:off x="6813925" y="4869012"/>
              <a:ext cx="657548" cy="83364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35"/>
            <p:cNvCxnSpPr>
              <a:stCxn id="11" idx="3"/>
              <a:endCxn id="24" idx="1"/>
            </p:cNvCxnSpPr>
            <p:nvPr/>
          </p:nvCxnSpPr>
          <p:spPr>
            <a:xfrm>
              <a:off x="6813925" y="4869012"/>
              <a:ext cx="657548" cy="27321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ight Brace 36"/>
            <p:cNvSpPr/>
            <p:nvPr/>
          </p:nvSpPr>
          <p:spPr>
            <a:xfrm rot="16200000">
              <a:off x="5674091" y="-1874382"/>
              <a:ext cx="707720" cy="6030935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38" name="Right Brace 37"/>
            <p:cNvSpPr/>
            <p:nvPr/>
          </p:nvSpPr>
          <p:spPr>
            <a:xfrm rot="16200000">
              <a:off x="1574702" y="57162"/>
              <a:ext cx="707720" cy="2167848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100">
                <a:solidFill>
                  <a:srgbClr val="FF0000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763022" y="1230572"/>
              <a:ext cx="2438006" cy="300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E-Field Applied in Gaussian</a:t>
              </a:r>
              <a:endParaRPr lang="en-US" sz="11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360039" y="1227551"/>
              <a:ext cx="1057382" cy="3007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 smtClean="0"/>
                <a:t>No E-Field</a:t>
              </a:r>
              <a:endParaRPr lang="en-US" sz="1100" dirty="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699958" y="1596883"/>
              <a:ext cx="1571946" cy="1499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</a:t>
              </a:r>
              <a:r>
                <a:rPr lang="en-US" sz="1400" baseline="-25000" dirty="0" smtClean="0"/>
                <a:t>1</a:t>
              </a:r>
              <a:r>
                <a:rPr lang="en-US" sz="1400" baseline="30000" dirty="0" smtClean="0"/>
                <a:t>field</a:t>
              </a:r>
              <a:r>
                <a:rPr lang="en-US" sz="1400" dirty="0" smtClean="0"/>
                <a:t> IR Spectrum</a:t>
              </a:r>
              <a:endParaRPr lang="en-US" sz="1400" dirty="0"/>
            </a:p>
          </p:txBody>
        </p:sp>
        <p:sp>
          <p:nvSpPr>
            <p:cNvPr id="42" name="Rectangle 41"/>
            <p:cNvSpPr/>
            <p:nvPr/>
          </p:nvSpPr>
          <p:spPr>
            <a:xfrm>
              <a:off x="9699958" y="3265974"/>
              <a:ext cx="1571946" cy="15111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</a:t>
              </a:r>
              <a:r>
                <a:rPr lang="en-US" sz="1400" baseline="-25000" dirty="0"/>
                <a:t>2</a:t>
              </a:r>
              <a:r>
                <a:rPr lang="en-US" sz="1400" baseline="30000" dirty="0" smtClean="0"/>
                <a:t>field</a:t>
              </a:r>
              <a:r>
                <a:rPr lang="en-US" sz="1400" dirty="0" smtClean="0"/>
                <a:t> IR Spectrum</a:t>
              </a:r>
              <a:endParaRPr lang="en-US" sz="1400" dirty="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9699958" y="4958745"/>
              <a:ext cx="1571946" cy="149967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E</a:t>
              </a:r>
              <a:r>
                <a:rPr lang="en-US" sz="1400" baseline="-25000" dirty="0"/>
                <a:t>3</a:t>
              </a:r>
              <a:r>
                <a:rPr lang="en-US" sz="1400" baseline="30000" dirty="0" smtClean="0"/>
                <a:t>field</a:t>
              </a:r>
              <a:r>
                <a:rPr lang="en-US" sz="1400" dirty="0" smtClean="0"/>
                <a:t> IR Spectrum</a:t>
              </a:r>
              <a:endParaRPr lang="en-US" sz="1400" dirty="0"/>
            </a:p>
          </p:txBody>
        </p:sp>
        <p:cxnSp>
          <p:nvCxnSpPr>
            <p:cNvPr id="44" name="Elbow Connector 43"/>
            <p:cNvCxnSpPr>
              <a:stCxn id="18" idx="3"/>
              <a:endCxn id="41" idx="1"/>
            </p:cNvCxnSpPr>
            <p:nvPr/>
          </p:nvCxnSpPr>
          <p:spPr>
            <a:xfrm>
              <a:off x="9043419" y="1780360"/>
              <a:ext cx="656539" cy="56635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>
              <a:stCxn id="19" idx="3"/>
              <a:endCxn id="41" idx="1"/>
            </p:cNvCxnSpPr>
            <p:nvPr/>
          </p:nvCxnSpPr>
          <p:spPr>
            <a:xfrm>
              <a:off x="9043419" y="2340799"/>
              <a:ext cx="656539" cy="592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/>
            <p:cNvCxnSpPr>
              <a:stCxn id="20" idx="3"/>
              <a:endCxn id="41" idx="1"/>
            </p:cNvCxnSpPr>
            <p:nvPr/>
          </p:nvCxnSpPr>
          <p:spPr>
            <a:xfrm flipV="1">
              <a:off x="9043419" y="2346719"/>
              <a:ext cx="656539" cy="55451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Elbow Connector 46"/>
            <p:cNvCxnSpPr>
              <a:stCxn id="21" idx="3"/>
            </p:cNvCxnSpPr>
            <p:nvPr/>
          </p:nvCxnSpPr>
          <p:spPr>
            <a:xfrm>
              <a:off x="9043419" y="3461291"/>
              <a:ext cx="656539" cy="557093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Elbow Connector 47"/>
            <p:cNvCxnSpPr>
              <a:stCxn id="23" idx="3"/>
              <a:endCxn id="42" idx="1"/>
            </p:cNvCxnSpPr>
            <p:nvPr/>
          </p:nvCxnSpPr>
          <p:spPr>
            <a:xfrm flipV="1">
              <a:off x="9043419" y="4021537"/>
              <a:ext cx="656539" cy="560246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/>
            <p:cNvCxnSpPr>
              <a:stCxn id="22" idx="3"/>
              <a:endCxn id="42" idx="1"/>
            </p:cNvCxnSpPr>
            <p:nvPr/>
          </p:nvCxnSpPr>
          <p:spPr>
            <a:xfrm>
              <a:off x="9043419" y="4021344"/>
              <a:ext cx="656539" cy="193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Elbow Connector 49"/>
            <p:cNvCxnSpPr>
              <a:stCxn id="24" idx="3"/>
              <a:endCxn id="43" idx="1"/>
            </p:cNvCxnSpPr>
            <p:nvPr/>
          </p:nvCxnSpPr>
          <p:spPr>
            <a:xfrm>
              <a:off x="9043419" y="5142222"/>
              <a:ext cx="656539" cy="56635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/>
            <p:cNvCxnSpPr>
              <a:stCxn id="26" idx="3"/>
              <a:endCxn id="43" idx="1"/>
            </p:cNvCxnSpPr>
            <p:nvPr/>
          </p:nvCxnSpPr>
          <p:spPr>
            <a:xfrm flipV="1">
              <a:off x="9043419" y="5708581"/>
              <a:ext cx="656539" cy="554519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/>
            <p:cNvCxnSpPr>
              <a:stCxn id="25" idx="3"/>
              <a:endCxn id="43" idx="1"/>
            </p:cNvCxnSpPr>
            <p:nvPr/>
          </p:nvCxnSpPr>
          <p:spPr>
            <a:xfrm>
              <a:off x="9043419" y="5702661"/>
              <a:ext cx="656539" cy="5920"/>
            </a:xfrm>
            <a:prstGeom prst="bentConnector3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6679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549275" y="244135"/>
            <a:ext cx="8042276" cy="726634"/>
          </a:xfrm>
        </p:spPr>
        <p:txBody>
          <a:bodyPr/>
          <a:lstStyle/>
          <a:p>
            <a:r>
              <a:rPr lang="en-US" dirty="0" smtClean="0"/>
              <a:t>BOMD Test Case: Cyanide</a:t>
            </a:r>
            <a:endParaRPr lang="en-US" dirty="0"/>
          </a:p>
        </p:txBody>
      </p:sp>
      <p:pic>
        <p:nvPicPr>
          <p:cNvPr id="4" name="Picture 3" descr="Screen Shot 2016-05-26 at 9.53.5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74" y="1529969"/>
            <a:ext cx="8158677" cy="1519973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49275" y="3586042"/>
            <a:ext cx="7761255" cy="2460871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Thermal sampling provides initial conditions for positions and velocities</a:t>
            </a:r>
          </a:p>
          <a:p>
            <a:r>
              <a:rPr lang="en-US" dirty="0" smtClean="0"/>
              <a:t>Each set of values can then be used as a staring point for the production of a trajectory in time</a:t>
            </a:r>
          </a:p>
        </p:txBody>
      </p:sp>
    </p:spTree>
    <p:extLst>
      <p:ext uri="{BB962C8B-B14F-4D97-AF65-F5344CB8AC3E}">
        <p14:creationId xmlns:p14="http://schemas.microsoft.com/office/powerpoint/2010/main" val="42103397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4135"/>
            <a:ext cx="8042276" cy="726634"/>
          </a:xfrm>
        </p:spPr>
        <p:txBody>
          <a:bodyPr/>
          <a:lstStyle/>
          <a:p>
            <a:r>
              <a:rPr lang="en-US" dirty="0" smtClean="0"/>
              <a:t>BOMD Test Case: </a:t>
            </a:r>
            <a:r>
              <a:rPr lang="en-US" dirty="0" smtClean="0"/>
              <a:t>Cyanide</a:t>
            </a:r>
            <a:endParaRPr lang="en-US" dirty="0"/>
          </a:p>
        </p:txBody>
      </p:sp>
      <p:pic>
        <p:nvPicPr>
          <p:cNvPr id="6" name="Content Placeholder 5" descr="sped_CN_1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27" b="6827"/>
          <a:stretch>
            <a:fillRect/>
          </a:stretch>
        </p:blipFill>
        <p:spPr>
          <a:xfrm>
            <a:off x="371475" y="1081740"/>
            <a:ext cx="4154488" cy="2243137"/>
          </a:xfrm>
        </p:spPr>
      </p:pic>
      <p:pic>
        <p:nvPicPr>
          <p:cNvPr id="7" name="Picture 6" descr="Screen Shot 2016-05-26 at 9.50.26 A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44"/>
          <a:stretch/>
        </p:blipFill>
        <p:spPr>
          <a:xfrm>
            <a:off x="432280" y="3752991"/>
            <a:ext cx="3302164" cy="2508451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828785" y="1081216"/>
            <a:ext cx="4116770" cy="5531734"/>
          </a:xfrm>
          <a:prstGeom prst="rect">
            <a:avLst/>
          </a:prstGeom>
        </p:spPr>
        <p:txBody>
          <a:bodyPr>
            <a:normAutofit/>
          </a:bodyPr>
          <a:lstStyle>
            <a:lvl1pPr marL="349250" indent="-34925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36550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837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63650" indent="-295275" algn="l" defTabSz="914400" rtl="0" eaLnBrk="1" latinLnBrk="0" hangingPunct="1">
              <a:spcBef>
                <a:spcPts val="600"/>
              </a:spcBef>
              <a:buClr>
                <a:schemeClr val="accent1">
                  <a:lumMod val="75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46225" indent="-282575" algn="l" defTabSz="9144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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28800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1177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398713" indent="-282575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110000"/>
              <a:buFont typeface="Wingdings 2" pitchFamily="18" charset="2"/>
              <a:buChar char=""/>
              <a:defRPr lang="en-US" sz="18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689225" indent="-282575" algn="l" defTabSz="914400" rtl="0" eaLnBrk="1" latinLnBrk="0" hangingPunct="1"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Char char=""/>
              <a:defRPr lang="en-US" sz="1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Results for one trajectory: molecular vibration in a diatomic</a:t>
            </a:r>
          </a:p>
          <a:p>
            <a:r>
              <a:rPr lang="en-US" dirty="0" smtClean="0"/>
              <a:t>Total energy conserved!</a:t>
            </a:r>
          </a:p>
        </p:txBody>
      </p:sp>
      <p:pic>
        <p:nvPicPr>
          <p:cNvPr id="3" name="Picture 2" descr="EnergyBreakdownCNBOMD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499" y="3458421"/>
            <a:ext cx="4564055" cy="295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0388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see a clear Stark shift in the ground state configuration spectra</a:t>
            </a:r>
          </a:p>
          <a:p>
            <a:pPr lvl="1"/>
            <a:r>
              <a:rPr lang="en-US" dirty="0"/>
              <a:t>Nearly symmetric with respect to field orientation (+/-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Asymmetric </a:t>
            </a:r>
            <a:r>
              <a:rPr lang="en-US" dirty="0" smtClean="0"/>
              <a:t>low-intensity shift echoes the </a:t>
            </a:r>
            <a:r>
              <a:rPr lang="en-US" dirty="0" smtClean="0"/>
              <a:t>trend</a:t>
            </a:r>
            <a:endParaRPr lang="en-US" dirty="0" smtClean="0"/>
          </a:p>
          <a:p>
            <a:r>
              <a:rPr lang="en-US" dirty="0" smtClean="0"/>
              <a:t>BOMD was successfully run on nitrile group</a:t>
            </a:r>
          </a:p>
          <a:p>
            <a:pPr lvl="1"/>
            <a:r>
              <a:rPr lang="en-US" dirty="0" smtClean="0"/>
              <a:t>Total energy conserved (good for MD)</a:t>
            </a:r>
          </a:p>
          <a:p>
            <a:pPr lvl="1"/>
            <a:r>
              <a:rPr lang="en-US" dirty="0" smtClean="0"/>
              <a:t>Method can be extended to whole DTDCPB molecule (the endgame!)</a:t>
            </a:r>
          </a:p>
          <a:p>
            <a:pPr marL="34925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17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-248024"/>
            <a:ext cx="8042276" cy="1336956"/>
          </a:xfrm>
        </p:spPr>
        <p:txBody>
          <a:bodyPr/>
          <a:lstStyle/>
          <a:p>
            <a:r>
              <a:rPr lang="en-US" dirty="0" smtClean="0"/>
              <a:t>Continuing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9275" y="1266732"/>
            <a:ext cx="8042276" cy="49148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Excited state calculations</a:t>
            </a:r>
          </a:p>
          <a:p>
            <a:pPr lvl="1"/>
            <a:r>
              <a:rPr lang="en-US" dirty="0" smtClean="0"/>
              <a:t>Probing excited state configuration in both zero and nonzero static fields</a:t>
            </a:r>
          </a:p>
          <a:p>
            <a:pPr lvl="1"/>
            <a:r>
              <a:rPr lang="en-US" dirty="0" smtClean="0"/>
              <a:t>Excited state Stark shift calibration</a:t>
            </a:r>
          </a:p>
          <a:p>
            <a:pPr lvl="1"/>
            <a:r>
              <a:rPr lang="en-US" dirty="0" smtClean="0"/>
              <a:t>Time-resolved spectroscopy – extending our proof-of-concept work for CN-</a:t>
            </a:r>
          </a:p>
          <a:p>
            <a:r>
              <a:rPr lang="en-US" dirty="0" smtClean="0"/>
              <a:t>Implementation of existing time-resolved computational methods:</a:t>
            </a:r>
          </a:p>
          <a:p>
            <a:pPr lvl="1"/>
            <a:r>
              <a:rPr lang="en-US" dirty="0" smtClean="0"/>
              <a:t>BOMD for ground and excited states for DTDCPB dimer</a:t>
            </a:r>
          </a:p>
          <a:p>
            <a:pPr lvl="1"/>
            <a:r>
              <a:rPr lang="en-US" dirty="0" smtClean="0"/>
              <a:t>Simulated time-resolved spectra for dimer</a:t>
            </a:r>
          </a:p>
          <a:p>
            <a:pPr lvl="1"/>
            <a:r>
              <a:rPr lang="en-US" dirty="0" smtClean="0"/>
              <a:t>Possible application of methods incorporating coupled nuclear dynamics (</a:t>
            </a:r>
            <a:r>
              <a:rPr lang="en-US" dirty="0" err="1" smtClean="0"/>
              <a:t>Ehrenfest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Comparison with experimental results (</a:t>
            </a:r>
            <a:r>
              <a:rPr lang="en-US" dirty="0"/>
              <a:t>s</a:t>
            </a:r>
            <a:r>
              <a:rPr lang="en-US" dirty="0" smtClean="0"/>
              <a:t>pectra and </a:t>
            </a:r>
            <a:r>
              <a:rPr lang="en-US" dirty="0" err="1" smtClean="0"/>
              <a:t>polarizability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2600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Acknowledgements</a:t>
            </a:r>
            <a:endParaRPr lang="en-US" dirty="0"/>
          </a:p>
        </p:txBody>
      </p:sp>
      <p:pic>
        <p:nvPicPr>
          <p:cNvPr id="8" name="Content Placeholder 7" descr="Thumbs-up-cat-GIF.gi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95" b="13995"/>
          <a:stretch>
            <a:fillRect/>
          </a:stretch>
        </p:blipFill>
        <p:spPr>
          <a:xfrm>
            <a:off x="1933575" y="1625601"/>
            <a:ext cx="5573154" cy="3009899"/>
          </a:xfrm>
        </p:spPr>
      </p:pic>
      <p:sp>
        <p:nvSpPr>
          <p:cNvPr id="9" name="TextBox 8"/>
          <p:cNvSpPr txBox="1"/>
          <p:nvPr/>
        </p:nvSpPr>
        <p:spPr>
          <a:xfrm>
            <a:off x="1066800" y="5118100"/>
            <a:ext cx="73025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Special Thanks go to:</a:t>
            </a:r>
          </a:p>
          <a:p>
            <a:pPr algn="ctr"/>
            <a:r>
              <a:rPr lang="en-US" dirty="0" smtClean="0"/>
              <a:t>Prof. </a:t>
            </a:r>
            <a:r>
              <a:rPr lang="en-US" dirty="0" err="1" smtClean="0"/>
              <a:t>Xiaosong</a:t>
            </a:r>
            <a:r>
              <a:rPr lang="en-US" dirty="0" smtClean="0"/>
              <a:t> Li, Prof. Cody </a:t>
            </a:r>
            <a:r>
              <a:rPr lang="en-US" dirty="0" err="1" smtClean="0"/>
              <a:t>Schlenker</a:t>
            </a:r>
            <a:r>
              <a:rPr lang="en-US" dirty="0" smtClean="0"/>
              <a:t>, Dr. </a:t>
            </a:r>
            <a:r>
              <a:rPr lang="en-US" dirty="0" err="1" smtClean="0"/>
              <a:t>Alessio</a:t>
            </a:r>
            <a:r>
              <a:rPr lang="en-US" dirty="0" smtClean="0"/>
              <a:t> </a:t>
            </a:r>
            <a:r>
              <a:rPr lang="en-US" dirty="0" err="1" smtClean="0"/>
              <a:t>Petrone</a:t>
            </a:r>
            <a:r>
              <a:rPr lang="en-US" dirty="0" smtClean="0"/>
              <a:t>, David </a:t>
            </a:r>
            <a:r>
              <a:rPr lang="en-US" dirty="0" err="1" smtClean="0"/>
              <a:t>Lingerfelt</a:t>
            </a:r>
            <a:r>
              <a:rPr lang="en-US" dirty="0" smtClean="0"/>
              <a:t>, Patrick </a:t>
            </a:r>
            <a:r>
              <a:rPr lang="en-US" dirty="0" err="1" smtClean="0"/>
              <a:t>Lestrange</a:t>
            </a:r>
            <a:r>
              <a:rPr lang="en-US" dirty="0" smtClean="0"/>
              <a:t>, and </a:t>
            </a:r>
            <a:r>
              <a:rPr lang="en-US" dirty="0" err="1" smtClean="0"/>
              <a:t>Hongbin</a:t>
            </a:r>
            <a:r>
              <a:rPr lang="en-US" dirty="0" smtClean="0"/>
              <a:t> Liu!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62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82476"/>
            <a:ext cx="8042276" cy="1336956"/>
          </a:xfrm>
        </p:spPr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15983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1269</TotalTime>
  <Words>1197</Words>
  <Application>Microsoft Macintosh PowerPoint</Application>
  <PresentationFormat>On-screen Show (4:3)</PresentationFormat>
  <Paragraphs>172</Paragraphs>
  <Slides>22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Breeze</vt:lpstr>
      <vt:lpstr> Computational Modeling of the Stark Effect for Solar-Relevant Materials</vt:lpstr>
      <vt:lpstr>DTDCPB: A promising push-pull chromophore</vt:lpstr>
      <vt:lpstr>DTDCPB Crystal Packing</vt:lpstr>
      <vt:lpstr>Stark Effect Introduction</vt:lpstr>
      <vt:lpstr>Expected Effect on Spectra</vt:lpstr>
      <vt:lpstr>Experimental Plan</vt:lpstr>
      <vt:lpstr>Excited-State Pump-probe Vibrational Spectroscopy</vt:lpstr>
      <vt:lpstr>Computational Overview</vt:lpstr>
      <vt:lpstr>Some Nuts and Bolts</vt:lpstr>
      <vt:lpstr>DTDCPB IR Spectrum - No Field</vt:lpstr>
      <vt:lpstr>PowerPoint Presentation</vt:lpstr>
      <vt:lpstr>Looking at CN Frequencies in External Field</vt:lpstr>
      <vt:lpstr>Born-Oppenheimer Molecular Dynamics (BOMD)</vt:lpstr>
      <vt:lpstr>Specifics of BOMD </vt:lpstr>
      <vt:lpstr>Simulating Spectra</vt:lpstr>
      <vt:lpstr>Calibrating the Stark shift with BOMD</vt:lpstr>
      <vt:lpstr>BOMD Test Case: Cyanide</vt:lpstr>
      <vt:lpstr>BOMD Test Case: Cyanide</vt:lpstr>
      <vt:lpstr>Conclusions </vt:lpstr>
      <vt:lpstr>Continuing Work</vt:lpstr>
      <vt:lpstr>Acknowledgements</vt:lpstr>
      <vt:lpstr>Questions?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 565: Looking at Stark Effect and BOMD in DTDCPB</dc:title>
  <dc:creator>C</dc:creator>
  <cp:lastModifiedBy>C</cp:lastModifiedBy>
  <cp:revision>59</cp:revision>
  <dcterms:created xsi:type="dcterms:W3CDTF">2016-05-25T21:57:00Z</dcterms:created>
  <dcterms:modified xsi:type="dcterms:W3CDTF">2016-05-27T15:21:01Z</dcterms:modified>
</cp:coreProperties>
</file>