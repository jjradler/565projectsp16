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02"/>
    <p:restoredTop sz="94628"/>
  </p:normalViewPr>
  <p:slideViewPr>
    <p:cSldViewPr snapToGrid="0" snapToObjects="1">
      <p:cViewPr varScale="1">
        <p:scale>
          <a:sx n="204" d="100"/>
          <a:sy n="204" d="100"/>
        </p:scale>
        <p:origin x="157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7538935-E887-7942-8C81-098190EB1550}" type="datetimeFigureOut">
              <a:rPr lang="en-US" smtClean="0"/>
              <a:t>5/25/16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61355"/>
            <a:ext cx="6498158" cy="1724867"/>
          </a:xfrm>
        </p:spPr>
        <p:txBody>
          <a:bodyPr/>
          <a:lstStyle/>
          <a:p>
            <a:r>
              <a:rPr lang="en-US" sz="4000" dirty="0" smtClean="0"/>
              <a:t>CHEM 565:</a:t>
            </a:r>
            <a:br>
              <a:rPr lang="en-US" sz="4000" dirty="0" smtClean="0"/>
            </a:br>
            <a:r>
              <a:rPr lang="en-US" sz="4000" dirty="0" smtClean="0"/>
              <a:t>Looking at Stark Effect and BOMD in DTDCPB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Camille </a:t>
            </a:r>
            <a:r>
              <a:rPr lang="en-US" dirty="0" err="1" smtClean="0"/>
              <a:t>Houferak</a:t>
            </a:r>
            <a:endParaRPr lang="en-US" dirty="0" smtClean="0"/>
          </a:p>
          <a:p>
            <a:r>
              <a:rPr lang="en-US" dirty="0" smtClean="0"/>
              <a:t>Emily </a:t>
            </a:r>
            <a:r>
              <a:rPr lang="en-US" dirty="0" err="1" smtClean="0"/>
              <a:t>Rabe</a:t>
            </a:r>
            <a:endParaRPr lang="en-US" dirty="0" smtClean="0"/>
          </a:p>
          <a:p>
            <a:r>
              <a:rPr lang="en-US" dirty="0" smtClean="0"/>
              <a:t>Joseph J. </a:t>
            </a:r>
            <a:r>
              <a:rPr lang="en-US" dirty="0" err="1" smtClean="0"/>
              <a:t>Radler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8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DTDCPB – What is it used for?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Emily will write slides </a:t>
            </a:r>
            <a:r>
              <a:rPr lang="en-US" smtClean="0"/>
              <a:t>for this part!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753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Perspective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5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Experiment/Computation Combined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2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Stark Effect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18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Stark Effect Test Case: Cyanide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99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Tentative DTDCPB Stark Effect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2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BOMD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I’mma</a:t>
            </a:r>
            <a:r>
              <a:rPr lang="en-US" dirty="0" smtClean="0"/>
              <a:t> put the process in broad strokes for BOMD set up and job submission in Gaussian here</a:t>
            </a:r>
            <a:r>
              <a:rPr lang="is-IS" dirty="0" smtClean="0"/>
              <a:t>… sometime... (Jay)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32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BOMD Flowchart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81424" y="1444532"/>
            <a:ext cx="8603309" cy="4933671"/>
            <a:chOff x="844637" y="787226"/>
            <a:chExt cx="10427267" cy="5671191"/>
          </a:xfrm>
        </p:grpSpPr>
        <p:sp>
          <p:nvSpPr>
            <p:cNvPr id="5" name="Rectangle 4"/>
            <p:cNvSpPr/>
            <p:nvPr/>
          </p:nvSpPr>
          <p:spPr>
            <a:xfrm>
              <a:off x="844637" y="3677162"/>
              <a:ext cx="1551398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</a:t>
              </a:r>
            </a:p>
            <a:p>
              <a:pPr algn="ctr"/>
              <a:r>
                <a:rPr lang="en-US" sz="1100" dirty="0" err="1" smtClean="0"/>
                <a:t>opt+freq</a:t>
              </a:r>
              <a:endParaRPr lang="en-US" sz="11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012485" y="3677160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</a:t>
              </a:r>
              <a:r>
                <a:rPr lang="en-US" sz="1100" dirty="0" err="1" smtClean="0"/>
                <a:t>opt+freq</a:t>
              </a:r>
              <a:endParaRPr lang="en-US" sz="11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2485" y="2829492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 smtClean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</a:t>
              </a:r>
              <a:r>
                <a:rPr lang="en-US" sz="1100" dirty="0" err="1" smtClean="0"/>
                <a:t>opt+freq</a:t>
              </a:r>
              <a:endParaRPr lang="en-US" sz="11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2485" y="4524828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</a:t>
              </a:r>
              <a:r>
                <a:rPr lang="en-US" sz="1100" dirty="0" err="1" smtClean="0"/>
                <a:t>opt+freq</a:t>
              </a:r>
              <a:endParaRPr lang="en-US" sz="11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241979" y="2829492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 smtClean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Thermal Sampling</a:t>
              </a:r>
              <a:endParaRPr lang="en-US" sz="11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41979" y="3677160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Thermal Sampling</a:t>
              </a:r>
              <a:endParaRPr lang="en-US" sz="11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41979" y="4524827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Thermal Sampling</a:t>
              </a:r>
              <a:endParaRPr lang="en-US" sz="1100" dirty="0"/>
            </a:p>
          </p:txBody>
        </p:sp>
        <p:cxnSp>
          <p:nvCxnSpPr>
            <p:cNvPr id="12" name="Elbow Connector 11"/>
            <p:cNvCxnSpPr>
              <a:stCxn id="5" idx="3"/>
              <a:endCxn id="7" idx="1"/>
            </p:cNvCxnSpPr>
            <p:nvPr/>
          </p:nvCxnSpPr>
          <p:spPr>
            <a:xfrm flipV="1">
              <a:off x="2396035" y="3173677"/>
              <a:ext cx="616450" cy="84767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5" idx="3"/>
              <a:endCxn id="6" idx="1"/>
            </p:cNvCxnSpPr>
            <p:nvPr/>
          </p:nvCxnSpPr>
          <p:spPr>
            <a:xfrm flipV="1">
              <a:off x="2396035" y="4021345"/>
              <a:ext cx="616450" cy="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bow Connector 13"/>
            <p:cNvCxnSpPr>
              <a:stCxn id="5" idx="3"/>
              <a:endCxn id="8" idx="1"/>
            </p:cNvCxnSpPr>
            <p:nvPr/>
          </p:nvCxnSpPr>
          <p:spPr>
            <a:xfrm>
              <a:off x="2396035" y="4021347"/>
              <a:ext cx="616450" cy="847666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7" idx="3"/>
              <a:endCxn id="9" idx="1"/>
            </p:cNvCxnSpPr>
            <p:nvPr/>
          </p:nvCxnSpPr>
          <p:spPr>
            <a:xfrm>
              <a:off x="4584431" y="3173677"/>
              <a:ext cx="65754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6" idx="3"/>
              <a:endCxn id="10" idx="1"/>
            </p:cNvCxnSpPr>
            <p:nvPr/>
          </p:nvCxnSpPr>
          <p:spPr>
            <a:xfrm>
              <a:off x="4584431" y="4021345"/>
              <a:ext cx="65754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8" idx="3"/>
              <a:endCxn id="11" idx="1"/>
            </p:cNvCxnSpPr>
            <p:nvPr/>
          </p:nvCxnSpPr>
          <p:spPr>
            <a:xfrm flipV="1">
              <a:off x="4584431" y="4869012"/>
              <a:ext cx="657548" cy="1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7471473" y="1585043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1</a:t>
              </a:r>
              <a:endParaRPr lang="en-US" sz="11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471473" y="2145482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 smtClean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2</a:t>
              </a:r>
              <a:endParaRPr lang="en-US" sz="11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471473" y="2705921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 smtClean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3</a:t>
              </a:r>
              <a:endParaRPr lang="en-US" sz="11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71473" y="3265974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1</a:t>
              </a:r>
              <a:endParaRPr lang="en-US" sz="11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471473" y="3826027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2</a:t>
              </a:r>
              <a:endParaRPr lang="en-US" sz="1100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471473" y="4386466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3</a:t>
              </a:r>
              <a:endParaRPr lang="en-US" sz="1100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71473" y="4946905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1</a:t>
              </a:r>
              <a:endParaRPr lang="en-US" sz="110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471473" y="5507344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2</a:t>
              </a:r>
              <a:endParaRPr lang="en-US" sz="1100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471473" y="6067783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3</a:t>
              </a:r>
              <a:endParaRPr lang="en-US" sz="1100" dirty="0"/>
            </a:p>
          </p:txBody>
        </p:sp>
        <p:cxnSp>
          <p:nvCxnSpPr>
            <p:cNvPr id="27" name="Elbow Connector 26"/>
            <p:cNvCxnSpPr>
              <a:stCxn id="9" idx="3"/>
              <a:endCxn id="18" idx="1"/>
            </p:cNvCxnSpPr>
            <p:nvPr/>
          </p:nvCxnSpPr>
          <p:spPr>
            <a:xfrm flipV="1">
              <a:off x="6813925" y="1780360"/>
              <a:ext cx="657548" cy="1393317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stCxn id="9" idx="3"/>
              <a:endCxn id="19" idx="1"/>
            </p:cNvCxnSpPr>
            <p:nvPr/>
          </p:nvCxnSpPr>
          <p:spPr>
            <a:xfrm flipV="1">
              <a:off x="6813925" y="2340799"/>
              <a:ext cx="657548" cy="832878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9" idx="3"/>
              <a:endCxn id="20" idx="1"/>
            </p:cNvCxnSpPr>
            <p:nvPr/>
          </p:nvCxnSpPr>
          <p:spPr>
            <a:xfrm flipV="1">
              <a:off x="6813925" y="2901238"/>
              <a:ext cx="657548" cy="27243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/>
            <p:cNvCxnSpPr>
              <a:stCxn id="10" idx="3"/>
              <a:endCxn id="21" idx="1"/>
            </p:cNvCxnSpPr>
            <p:nvPr/>
          </p:nvCxnSpPr>
          <p:spPr>
            <a:xfrm flipV="1">
              <a:off x="6813925" y="3461291"/>
              <a:ext cx="657548" cy="560054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/>
            <p:cNvCxnSpPr>
              <a:stCxn id="10" idx="3"/>
              <a:endCxn id="22" idx="1"/>
            </p:cNvCxnSpPr>
            <p:nvPr/>
          </p:nvCxnSpPr>
          <p:spPr>
            <a:xfrm flipV="1">
              <a:off x="6813925" y="4021344"/>
              <a:ext cx="657548" cy="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>
              <a:stCxn id="10" idx="3"/>
              <a:endCxn id="23" idx="1"/>
            </p:cNvCxnSpPr>
            <p:nvPr/>
          </p:nvCxnSpPr>
          <p:spPr>
            <a:xfrm>
              <a:off x="6813925" y="4021345"/>
              <a:ext cx="657548" cy="560438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>
              <a:stCxn id="11" idx="3"/>
              <a:endCxn id="26" idx="1"/>
            </p:cNvCxnSpPr>
            <p:nvPr/>
          </p:nvCxnSpPr>
          <p:spPr>
            <a:xfrm>
              <a:off x="6813925" y="4869012"/>
              <a:ext cx="657548" cy="1394088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11" idx="3"/>
              <a:endCxn id="26" idx="1"/>
            </p:cNvCxnSpPr>
            <p:nvPr/>
          </p:nvCxnSpPr>
          <p:spPr>
            <a:xfrm>
              <a:off x="6813925" y="4869012"/>
              <a:ext cx="657548" cy="1394088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/>
            <p:cNvCxnSpPr>
              <a:stCxn id="11" idx="3"/>
              <a:endCxn id="25" idx="1"/>
            </p:cNvCxnSpPr>
            <p:nvPr/>
          </p:nvCxnSpPr>
          <p:spPr>
            <a:xfrm>
              <a:off x="6813925" y="4869012"/>
              <a:ext cx="657548" cy="83364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lbow Connector 35"/>
            <p:cNvCxnSpPr>
              <a:stCxn id="11" idx="3"/>
              <a:endCxn id="24" idx="1"/>
            </p:cNvCxnSpPr>
            <p:nvPr/>
          </p:nvCxnSpPr>
          <p:spPr>
            <a:xfrm>
              <a:off x="6813925" y="4869012"/>
              <a:ext cx="657548" cy="27321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ight Brace 36"/>
            <p:cNvSpPr/>
            <p:nvPr/>
          </p:nvSpPr>
          <p:spPr>
            <a:xfrm rot="16200000">
              <a:off x="5674091" y="-1874382"/>
              <a:ext cx="707720" cy="6030935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38" name="Right Brace 37"/>
            <p:cNvSpPr/>
            <p:nvPr/>
          </p:nvSpPr>
          <p:spPr>
            <a:xfrm rot="16200000">
              <a:off x="1574702" y="57162"/>
              <a:ext cx="707720" cy="216784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63022" y="1230572"/>
              <a:ext cx="2438006" cy="300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E-Field Applied in Gaussian</a:t>
              </a:r>
              <a:endParaRPr lang="en-US" sz="11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60039" y="1227551"/>
              <a:ext cx="1057382" cy="300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No E-Field</a:t>
              </a:r>
              <a:endParaRPr lang="en-US" sz="11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699958" y="1596883"/>
              <a:ext cx="1571946" cy="1499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E</a:t>
              </a:r>
              <a:r>
                <a:rPr lang="en-US" sz="1400" baseline="-25000" dirty="0" smtClean="0"/>
                <a:t>1</a:t>
              </a:r>
              <a:r>
                <a:rPr lang="en-US" sz="1400" baseline="30000" dirty="0" smtClean="0"/>
                <a:t>field</a:t>
              </a:r>
              <a:r>
                <a:rPr lang="en-US" sz="1400" dirty="0" smtClean="0"/>
                <a:t> IR Spectrum</a:t>
              </a:r>
              <a:endParaRPr lang="en-US" sz="14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699958" y="3265974"/>
              <a:ext cx="1571946" cy="15111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E</a:t>
              </a:r>
              <a:r>
                <a:rPr lang="en-US" sz="1400" baseline="-25000" dirty="0"/>
                <a:t>2</a:t>
              </a:r>
              <a:r>
                <a:rPr lang="en-US" sz="1400" baseline="30000" dirty="0" smtClean="0"/>
                <a:t>field</a:t>
              </a:r>
              <a:r>
                <a:rPr lang="en-US" sz="1400" dirty="0" smtClean="0"/>
                <a:t> IR Spectrum</a:t>
              </a:r>
              <a:endParaRPr lang="en-US" sz="1400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699958" y="4958745"/>
              <a:ext cx="1571946" cy="1499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E</a:t>
              </a:r>
              <a:r>
                <a:rPr lang="en-US" sz="1400" baseline="-25000" dirty="0"/>
                <a:t>3</a:t>
              </a:r>
              <a:r>
                <a:rPr lang="en-US" sz="1400" baseline="30000" dirty="0" smtClean="0"/>
                <a:t>field</a:t>
              </a:r>
              <a:r>
                <a:rPr lang="en-US" sz="1400" dirty="0" smtClean="0"/>
                <a:t> IR Spectrum</a:t>
              </a:r>
              <a:endParaRPr lang="en-US" sz="1400" dirty="0"/>
            </a:p>
          </p:txBody>
        </p:sp>
        <p:cxnSp>
          <p:nvCxnSpPr>
            <p:cNvPr id="44" name="Elbow Connector 43"/>
            <p:cNvCxnSpPr>
              <a:stCxn id="18" idx="3"/>
              <a:endCxn id="41" idx="1"/>
            </p:cNvCxnSpPr>
            <p:nvPr/>
          </p:nvCxnSpPr>
          <p:spPr>
            <a:xfrm>
              <a:off x="9043419" y="1780360"/>
              <a:ext cx="656539" cy="56635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19" idx="3"/>
              <a:endCxn id="41" idx="1"/>
            </p:cNvCxnSpPr>
            <p:nvPr/>
          </p:nvCxnSpPr>
          <p:spPr>
            <a:xfrm>
              <a:off x="9043419" y="2340799"/>
              <a:ext cx="656539" cy="592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/>
            <p:cNvCxnSpPr>
              <a:stCxn id="20" idx="3"/>
              <a:endCxn id="41" idx="1"/>
            </p:cNvCxnSpPr>
            <p:nvPr/>
          </p:nvCxnSpPr>
          <p:spPr>
            <a:xfrm flipV="1">
              <a:off x="9043419" y="2346719"/>
              <a:ext cx="656539" cy="55451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lbow Connector 46"/>
            <p:cNvCxnSpPr>
              <a:stCxn id="21" idx="3"/>
            </p:cNvCxnSpPr>
            <p:nvPr/>
          </p:nvCxnSpPr>
          <p:spPr>
            <a:xfrm>
              <a:off x="9043419" y="3461291"/>
              <a:ext cx="656539" cy="557093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/>
            <p:cNvCxnSpPr>
              <a:stCxn id="23" idx="3"/>
              <a:endCxn id="42" idx="1"/>
            </p:cNvCxnSpPr>
            <p:nvPr/>
          </p:nvCxnSpPr>
          <p:spPr>
            <a:xfrm flipV="1">
              <a:off x="9043419" y="4021537"/>
              <a:ext cx="656539" cy="560246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lbow Connector 48"/>
            <p:cNvCxnSpPr>
              <a:stCxn id="22" idx="3"/>
              <a:endCxn id="42" idx="1"/>
            </p:cNvCxnSpPr>
            <p:nvPr/>
          </p:nvCxnSpPr>
          <p:spPr>
            <a:xfrm>
              <a:off x="9043419" y="4021344"/>
              <a:ext cx="656539" cy="193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Elbow Connector 49"/>
            <p:cNvCxnSpPr>
              <a:stCxn id="24" idx="3"/>
              <a:endCxn id="43" idx="1"/>
            </p:cNvCxnSpPr>
            <p:nvPr/>
          </p:nvCxnSpPr>
          <p:spPr>
            <a:xfrm>
              <a:off x="9043419" y="5142222"/>
              <a:ext cx="656539" cy="56635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/>
            <p:cNvCxnSpPr>
              <a:stCxn id="26" idx="3"/>
              <a:endCxn id="43" idx="1"/>
            </p:cNvCxnSpPr>
            <p:nvPr/>
          </p:nvCxnSpPr>
          <p:spPr>
            <a:xfrm flipV="1">
              <a:off x="9043419" y="5708581"/>
              <a:ext cx="656539" cy="55451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/>
            <p:cNvCxnSpPr>
              <a:stCxn id="25" idx="3"/>
              <a:endCxn id="43" idx="1"/>
            </p:cNvCxnSpPr>
            <p:nvPr/>
          </p:nvCxnSpPr>
          <p:spPr>
            <a:xfrm>
              <a:off x="9043419" y="5702661"/>
              <a:ext cx="656539" cy="592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667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BOMD Test Case: Cyanide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3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Tetnative</a:t>
            </a:r>
            <a:r>
              <a:rPr lang="en-US" dirty="0" smtClean="0"/>
              <a:t> DTDCPB BOMD Results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55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 and Future Directions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6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23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28</TotalTime>
  <Words>167</Words>
  <Application>Microsoft Macintosh PowerPoint</Application>
  <PresentationFormat>On-screen Show (4:3)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News Gothic MT</vt:lpstr>
      <vt:lpstr>Wingdings 2</vt:lpstr>
      <vt:lpstr>Breeze</vt:lpstr>
      <vt:lpstr>CHEM 565: Looking at Stark Effect and BOMD in DTDCPB</vt:lpstr>
      <vt:lpstr>DTDCPB – What is it used for?</vt:lpstr>
      <vt:lpstr>Experimental Perspective</vt:lpstr>
      <vt:lpstr>Experiment/Computation Combined</vt:lpstr>
      <vt:lpstr>Stark Effect Introduction</vt:lpstr>
      <vt:lpstr>Stark Effect Test Case: Cyanide</vt:lpstr>
      <vt:lpstr>Tentative DTDCPB Stark Effect Results</vt:lpstr>
      <vt:lpstr>BOMD Introduction</vt:lpstr>
      <vt:lpstr>BOMD Flowchart</vt:lpstr>
      <vt:lpstr>BOMD Test Case: Cyanide</vt:lpstr>
      <vt:lpstr>Tetnative DTDCPB BOMD Results </vt:lpstr>
      <vt:lpstr>Conclusions and Future Directions </vt:lpstr>
      <vt:lpstr>Questions Slide</vt:lpstr>
    </vt:vector>
  </TitlesOfParts>
  <Company/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 565: Looking at Stark Effect and BOMD in DTDCPB</dc:title>
  <dc:creator>C</dc:creator>
  <cp:lastModifiedBy>JOSEPH J. RADLER</cp:lastModifiedBy>
  <cp:revision>11</cp:revision>
  <dcterms:created xsi:type="dcterms:W3CDTF">2016-05-25T21:57:00Z</dcterms:created>
  <dcterms:modified xsi:type="dcterms:W3CDTF">2016-05-25T23:46:27Z</dcterms:modified>
</cp:coreProperties>
</file>