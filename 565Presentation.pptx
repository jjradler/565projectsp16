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rels" ContentType="application/vnd.openxmlformats-package.relationships+xml"/>
  <Default Extension="emf" ContentType="image/x-emf"/>
  <Default Extension="gif" ContentType="image/gif"/>
  <Default Extension="bin" ContentType="application/vnd.openxmlformats-officedocument.presentationml.printerSettings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2"/>
  </p:notesMasterIdLst>
  <p:sldIdLst>
    <p:sldId id="256" r:id="rId2"/>
    <p:sldId id="277" r:id="rId3"/>
    <p:sldId id="274" r:id="rId4"/>
    <p:sldId id="260" r:id="rId5"/>
    <p:sldId id="269" r:id="rId6"/>
    <p:sldId id="275" r:id="rId7"/>
    <p:sldId id="276" r:id="rId8"/>
    <p:sldId id="280" r:id="rId9"/>
    <p:sldId id="281" r:id="rId10"/>
    <p:sldId id="262" r:id="rId11"/>
    <p:sldId id="278" r:id="rId12"/>
    <p:sldId id="279" r:id="rId13"/>
    <p:sldId id="263" r:id="rId14"/>
    <p:sldId id="273" r:id="rId15"/>
    <p:sldId id="264" r:id="rId16"/>
    <p:sldId id="270" r:id="rId17"/>
    <p:sldId id="265" r:id="rId18"/>
    <p:sldId id="266" r:id="rId19"/>
    <p:sldId id="267" r:id="rId20"/>
    <p:sldId id="268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183"/>
    <p:restoredTop sz="94628"/>
  </p:normalViewPr>
  <p:slideViewPr>
    <p:cSldViewPr snapToGrid="0" snapToObjects="1">
      <p:cViewPr>
        <p:scale>
          <a:sx n="100" d="100"/>
          <a:sy n="100" d="100"/>
        </p:scale>
        <p:origin x="-952" y="2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interSettings" Target="printerSettings/printerSettings1.bin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46E8FB-7501-C843-9369-FCD60CCB4A56}" type="datetimeFigureOut">
              <a:rPr lang="en-US" smtClean="0"/>
              <a:t>5/26/16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405226-6688-2748-8DD8-E3AB12D452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00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“d-a-a” means donor-acceptor-acceptor”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30D974-8121-4378-8C5B-80AF56878A2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1824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Okay, so this slide is a </a:t>
            </a:r>
            <a:r>
              <a:rPr lang="en-US" dirty="0" err="1" smtClean="0"/>
              <a:t>clusterfuck</a:t>
            </a:r>
            <a:r>
              <a:rPr lang="en-US" dirty="0" smtClean="0"/>
              <a:t>. I</a:t>
            </a:r>
            <a:r>
              <a:rPr lang="en-US" baseline="0" dirty="0" smtClean="0"/>
              <a:t> decided to put a bunch of crap in, feel free to take out whatever you want.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30D974-8121-4378-8C5B-80AF56878A2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8840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You can feel free not to use this. Basically it just shows</a:t>
            </a:r>
            <a:r>
              <a:rPr lang="en-US" baseline="0" dirty="0" smtClean="0"/>
              <a:t> that we will be collecting the difference spectrum with and without the pump light (UV-vis range).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30D974-8121-4378-8C5B-80AF56878A2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462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328166" y="1295400"/>
            <a:ext cx="6487668" cy="3152887"/>
          </a:xfrm>
          <a:prstGeom prst="rect">
            <a:avLst/>
          </a:prstGeo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</a:pPr>
            <a:endParaRPr sz="3200" kern="120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2921" y="1523999"/>
            <a:ext cx="6498158" cy="1724867"/>
          </a:xfr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ctr" defTabSz="914400" rtl="0" eaLnBrk="1" latinLnBrk="0" hangingPunct="1">
              <a:spcBef>
                <a:spcPct val="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4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22921" y="3299012"/>
            <a:ext cx="6498159" cy="91664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538" y="3352801"/>
            <a:ext cx="8416925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3538" y="4771029"/>
            <a:ext cx="8416925" cy="972671"/>
          </a:xfrm>
        </p:spPr>
        <p:txBody>
          <a:bodyPr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2"/>
          <p:cNvSpPr>
            <a:spLocks noGrp="1"/>
          </p:cNvSpPr>
          <p:nvPr>
            <p:ph type="pic" idx="13"/>
          </p:nvPr>
        </p:nvSpPr>
        <p:spPr>
          <a:xfrm>
            <a:off x="370980" y="363538"/>
            <a:ext cx="8402040" cy="2836862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2403144"/>
            <a:ext cx="8056563" cy="1362075"/>
          </a:xfrm>
        </p:spPr>
        <p:txBody>
          <a:bodyPr anchor="b" anchorCtr="0"/>
          <a:lstStyle>
            <a:lvl1pPr algn="ctr">
              <a:defRPr sz="4600" b="0" cap="none" baseline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3736005"/>
            <a:ext cx="8056563" cy="1500187"/>
          </a:xfrm>
        </p:spPr>
        <p:txBody>
          <a:bodyPr anchor="t" anchorCtr="0"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9275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1071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4" y="107576"/>
            <a:ext cx="8042276" cy="1336956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4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9274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1070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1070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9" y="611872"/>
            <a:ext cx="3840480" cy="1162050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2824" y="368300"/>
            <a:ext cx="3840480" cy="5575300"/>
          </a:xfrm>
        </p:spPr>
        <p:txBody>
          <a:bodyPr>
            <a:normAutofit/>
          </a:bodyPr>
          <a:lstStyle>
            <a:lvl1pPr>
              <a:spcBef>
                <a:spcPts val="2000"/>
              </a:spcBef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9" y="1787856"/>
            <a:ext cx="3840480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8" y="611872"/>
            <a:ext cx="4079545" cy="1162050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8" y="1787856"/>
            <a:ext cx="4079545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 Placeholder 2"/>
          <p:cNvSpPr>
            <a:spLocks noGrp="1"/>
          </p:cNvSpPr>
          <p:nvPr>
            <p:ph type="pic" idx="1"/>
          </p:nvPr>
        </p:nvSpPr>
        <p:spPr>
          <a:xfrm>
            <a:off x="5090617" y="359392"/>
            <a:ext cx="3657600" cy="5318077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3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9792" y="368301"/>
            <a:ext cx="1524000" cy="55753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49274" y="368301"/>
            <a:ext cx="6689726" cy="5575300"/>
          </a:xfrm>
        </p:spPr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1600201"/>
            <a:ext cx="8042276" cy="4343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29835" y="627566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4458" y="6275668"/>
            <a:ext cx="48409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97906" y="6275668"/>
            <a:ext cx="990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0">
                <a:solidFill>
                  <a:schemeClr val="bg1"/>
                </a:solidFill>
              </a:defRPr>
            </a:lvl1pPr>
          </a:lstStyle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9250" indent="-349250" algn="l" defTabSz="914400" rtl="0" eaLnBrk="1" latinLnBrk="0" hangingPunct="1">
        <a:spcBef>
          <a:spcPts val="2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336550" algn="l" defTabSz="914400" rtl="0" eaLnBrk="1" latinLnBrk="0" hangingPunct="1">
        <a:spcBef>
          <a:spcPts val="600"/>
        </a:spcBef>
        <a:buClr>
          <a:schemeClr val="accent1">
            <a:lumMod val="75000"/>
          </a:schemeClr>
        </a:buClr>
        <a:buSzPct val="110000"/>
        <a:buFont typeface="Wingdings 2" pitchFamily="18" charset="2"/>
        <a:buChar char=""/>
        <a:defRPr sz="2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968375" indent="-282575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263650" indent="-295275" algn="l" defTabSz="914400" rtl="0" eaLnBrk="1" latinLnBrk="0" hangingPunct="1">
        <a:spcBef>
          <a:spcPts val="600"/>
        </a:spcBef>
        <a:buClr>
          <a:schemeClr val="accent1">
            <a:lumMod val="75000"/>
          </a:schemeClr>
        </a:buClr>
        <a:buSzPct val="110000"/>
        <a:buFont typeface="Wingdings 2" pitchFamily="18" charset="2"/>
        <a:buChar char="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546225" indent="-282575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828800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1177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398713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6892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gif"/><Relationship Id="rId3" Type="http://schemas.openxmlformats.org/officeDocument/2006/relationships/image" Target="../media/image8.gif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gif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2921" y="1561355"/>
            <a:ext cx="6498158" cy="1724867"/>
          </a:xfrm>
        </p:spPr>
        <p:txBody>
          <a:bodyPr/>
          <a:lstStyle/>
          <a:p>
            <a:r>
              <a:rPr lang="en-US" sz="4000" dirty="0" smtClean="0"/>
              <a:t/>
            </a:r>
            <a:br>
              <a:rPr lang="en-US" sz="4000" dirty="0" smtClean="0"/>
            </a:br>
            <a:r>
              <a:rPr lang="en-US" sz="4000" dirty="0" smtClean="0"/>
              <a:t>Computational Modeling of the Stark Effect for Solar-Relevant Materials</a:t>
            </a:r>
            <a:endParaRPr lang="en-US" sz="4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Camille </a:t>
            </a:r>
            <a:r>
              <a:rPr lang="en-US" dirty="0" err="1" smtClean="0"/>
              <a:t>Houferak</a:t>
            </a:r>
            <a:endParaRPr lang="en-US" dirty="0" smtClean="0"/>
          </a:p>
          <a:p>
            <a:r>
              <a:rPr lang="en-US" dirty="0" smtClean="0"/>
              <a:t>Emily </a:t>
            </a:r>
            <a:r>
              <a:rPr lang="en-US" dirty="0" err="1" smtClean="0"/>
              <a:t>Rabe</a:t>
            </a:r>
            <a:endParaRPr lang="en-US" dirty="0" smtClean="0"/>
          </a:p>
          <a:p>
            <a:r>
              <a:rPr lang="en-US" dirty="0" smtClean="0"/>
              <a:t>Joseph J. </a:t>
            </a:r>
            <a:r>
              <a:rPr lang="en-US" dirty="0" err="1" smtClean="0"/>
              <a:t>Radler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28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TDCPB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069" y="1600201"/>
            <a:ext cx="3584509" cy="441170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DTDCPB – What is </a:t>
            </a:r>
            <a:r>
              <a:rPr lang="en-US" sz="4800" dirty="0" smtClean="0"/>
              <a:t>it?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9275" y="1600201"/>
            <a:ext cx="4144380" cy="4343400"/>
          </a:xfrm>
        </p:spPr>
        <p:txBody>
          <a:bodyPr>
            <a:normAutofit lnSpcReduction="10000"/>
          </a:bodyPr>
          <a:lstStyle/>
          <a:p>
            <a:r>
              <a:rPr lang="en-US" sz="2200" dirty="0" smtClean="0"/>
              <a:t>It’s a mouthful, for starters! </a:t>
            </a:r>
          </a:p>
          <a:p>
            <a:r>
              <a:rPr lang="en-US" sz="2200" dirty="0" smtClean="0"/>
              <a:t>Importance of OPVs – cost effective, flexible</a:t>
            </a:r>
          </a:p>
          <a:p>
            <a:r>
              <a:rPr lang="en-US" sz="2200" dirty="0" smtClean="0"/>
              <a:t>Molecular configuration exhibits relatively small bandgap and low HOMO</a:t>
            </a:r>
          </a:p>
          <a:p>
            <a:r>
              <a:rPr lang="en-US" sz="2200" dirty="0"/>
              <a:t>PCE of 9.6±0.5%</a:t>
            </a:r>
          </a:p>
          <a:p>
            <a:pPr lvl="1"/>
            <a:r>
              <a:rPr lang="en-US" sz="2200" dirty="0"/>
              <a:t>Among the highest of small-molecule OPV devices</a:t>
            </a:r>
          </a:p>
          <a:p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570413" y="6011904"/>
            <a:ext cx="419862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/>
              <a:t>2-[(7-(4-[N,N-</a:t>
            </a:r>
            <a:r>
              <a:rPr lang="en-US" sz="1350" dirty="0" err="1"/>
              <a:t>bis</a:t>
            </a:r>
            <a:r>
              <a:rPr lang="en-US" sz="1350" dirty="0"/>
              <a:t>(4-methylphenyl)amino]phenyl)-2,1,3-benzothia-diazol-4-yl)methylene] propane-</a:t>
            </a:r>
            <a:r>
              <a:rPr lang="en-US" sz="1350" dirty="0" err="1"/>
              <a:t>dinitrile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80947062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DTDCPB: A promising push-pull chromophore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1445" y="1444532"/>
            <a:ext cx="3777615" cy="5102050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Possesses a ground state dipole</a:t>
            </a:r>
          </a:p>
          <a:p>
            <a:pPr lvl="1"/>
            <a:r>
              <a:rPr lang="en-US" dirty="0" smtClean="0"/>
              <a:t>“</a:t>
            </a:r>
            <a:r>
              <a:rPr lang="en-US" dirty="0" smtClean="0">
                <a:solidFill>
                  <a:schemeClr val="accent2"/>
                </a:solidFill>
              </a:rPr>
              <a:t>d</a:t>
            </a:r>
            <a:r>
              <a:rPr lang="en-US" dirty="0" smtClean="0"/>
              <a:t>-</a:t>
            </a:r>
            <a:r>
              <a:rPr lang="en-US" dirty="0" smtClean="0">
                <a:solidFill>
                  <a:schemeClr val="tx2"/>
                </a:solidFill>
              </a:rPr>
              <a:t>a</a:t>
            </a:r>
            <a:r>
              <a:rPr lang="en-US" dirty="0" smtClean="0"/>
              <a:t>-</a:t>
            </a:r>
            <a:r>
              <a:rPr lang="en-US" dirty="0" smtClean="0">
                <a:solidFill>
                  <a:schemeClr val="tx2"/>
                </a:solidFill>
              </a:rPr>
              <a:t>a</a:t>
            </a:r>
            <a:r>
              <a:rPr lang="en-US" dirty="0" smtClean="0"/>
              <a:t>” configuration</a:t>
            </a:r>
          </a:p>
          <a:p>
            <a:pPr lvl="1"/>
            <a:r>
              <a:rPr lang="en-US" dirty="0" smtClean="0"/>
              <a:t>Enhances hole-hopping</a:t>
            </a:r>
          </a:p>
          <a:p>
            <a:pPr lvl="1"/>
            <a:r>
              <a:rPr lang="en-US" dirty="0" smtClean="0"/>
              <a:t>Decreases charge recombination</a:t>
            </a:r>
          </a:p>
          <a:p>
            <a:r>
              <a:rPr lang="en-US" dirty="0" smtClean="0"/>
              <a:t>Nitrile groups ideal for IR spectroscopy</a:t>
            </a:r>
            <a:endParaRPr lang="en-US" dirty="0"/>
          </a:p>
          <a:p>
            <a:pPr lvl="1"/>
            <a:r>
              <a:rPr lang="en-US" dirty="0" smtClean="0"/>
              <a:t>Strong vibrational signature at 2260-2220 cm</a:t>
            </a:r>
            <a:r>
              <a:rPr lang="en-US" baseline="30000" dirty="0" smtClean="0"/>
              <a:t>-1</a:t>
            </a:r>
            <a:endParaRPr lang="en-US" dirty="0"/>
          </a:p>
          <a:p>
            <a:pPr lvl="1"/>
            <a:r>
              <a:rPr lang="en-US" dirty="0" smtClean="0"/>
              <a:t>Allows us to track Stark Shifts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47788" y="4892927"/>
            <a:ext cx="419862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/>
              <a:t>2-[(7-(4-[N,N-</a:t>
            </a:r>
            <a:r>
              <a:rPr lang="en-US" sz="1350" dirty="0" err="1"/>
              <a:t>bis</a:t>
            </a:r>
            <a:r>
              <a:rPr lang="en-US" sz="1350" dirty="0"/>
              <a:t>(4-methylphenyl)amino]phenyl)-2,1,3-benzothia-diazol-4-yl)methylene] propane-</a:t>
            </a:r>
            <a:r>
              <a:rPr lang="en-US" sz="1350" dirty="0" err="1"/>
              <a:t>dinitrile</a:t>
            </a:r>
            <a:endParaRPr lang="en-US" sz="1350" dirty="0"/>
          </a:p>
        </p:txBody>
      </p:sp>
      <p:sp>
        <p:nvSpPr>
          <p:cNvPr id="44" name="TextBox 43"/>
          <p:cNvSpPr txBox="1"/>
          <p:nvPr/>
        </p:nvSpPr>
        <p:spPr>
          <a:xfrm>
            <a:off x="5186903" y="6242044"/>
            <a:ext cx="365950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/>
              <a:t>Griffith, O. L. </a:t>
            </a:r>
            <a:r>
              <a:rPr lang="en-US" sz="1350" i="1" dirty="0"/>
              <a:t>et al.</a:t>
            </a:r>
            <a:r>
              <a:rPr lang="en-US" sz="1350" dirty="0"/>
              <a:t> </a:t>
            </a:r>
            <a:r>
              <a:rPr lang="en-US" sz="1350" i="1" dirty="0"/>
              <a:t>Phys Rev B</a:t>
            </a:r>
            <a:r>
              <a:rPr lang="en-US" sz="1350" dirty="0"/>
              <a:t> </a:t>
            </a:r>
            <a:r>
              <a:rPr lang="en-US" sz="1350" b="1" dirty="0"/>
              <a:t>92,</a:t>
            </a:r>
            <a:r>
              <a:rPr lang="en-US" sz="1350" dirty="0"/>
              <a:t> (2015).</a:t>
            </a:r>
          </a:p>
          <a:p>
            <a:endParaRPr lang="en-US" sz="1350" dirty="0"/>
          </a:p>
        </p:txBody>
      </p:sp>
      <p:grpSp>
        <p:nvGrpSpPr>
          <p:cNvPr id="12" name="Group 11"/>
          <p:cNvGrpSpPr/>
          <p:nvPr/>
        </p:nvGrpSpPr>
        <p:grpSpPr>
          <a:xfrm>
            <a:off x="4671441" y="1647825"/>
            <a:ext cx="3761422" cy="2611566"/>
            <a:chOff x="5516118" y="2289810"/>
            <a:chExt cx="2061972" cy="1492063"/>
          </a:xfrm>
        </p:grpSpPr>
        <p:cxnSp>
          <p:nvCxnSpPr>
            <p:cNvPr id="5" name="Straight Arrow Connector 4"/>
            <p:cNvCxnSpPr/>
            <p:nvPr/>
          </p:nvCxnSpPr>
          <p:spPr>
            <a:xfrm flipV="1">
              <a:off x="5684520" y="2446020"/>
              <a:ext cx="1706880" cy="381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Group 8"/>
            <p:cNvGrpSpPr/>
            <p:nvPr/>
          </p:nvGrpSpPr>
          <p:grpSpPr>
            <a:xfrm>
              <a:off x="5516118" y="2289810"/>
              <a:ext cx="2061972" cy="1492063"/>
              <a:chOff x="5516118" y="2289810"/>
              <a:chExt cx="2061972" cy="1492063"/>
            </a:xfrm>
          </p:grpSpPr>
          <p:cxnSp>
            <p:nvCxnSpPr>
              <p:cNvPr id="8" name="Straight Connector 7"/>
              <p:cNvCxnSpPr/>
              <p:nvPr/>
            </p:nvCxnSpPr>
            <p:spPr>
              <a:xfrm>
                <a:off x="5821680" y="2289810"/>
                <a:ext cx="0" cy="32897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" name="Group 6"/>
              <p:cNvGrpSpPr/>
              <p:nvPr/>
            </p:nvGrpSpPr>
            <p:grpSpPr>
              <a:xfrm>
                <a:off x="5516118" y="2544318"/>
                <a:ext cx="2061972" cy="1237555"/>
                <a:chOff x="5516118" y="2544318"/>
                <a:chExt cx="2061972" cy="1237555"/>
              </a:xfrm>
            </p:grpSpPr>
            <p:pic>
              <p:nvPicPr>
                <p:cNvPr id="38" name="Picture 37"/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16886" t="25117" r="13481"/>
                <a:stretch/>
              </p:blipFill>
              <p:spPr>
                <a:xfrm>
                  <a:off x="5543550" y="2647802"/>
                  <a:ext cx="2034540" cy="1134071"/>
                </a:xfrm>
                <a:prstGeom prst="rect">
                  <a:avLst/>
                </a:prstGeom>
              </p:spPr>
            </p:pic>
            <p:sp>
              <p:nvSpPr>
                <p:cNvPr id="4" name="Rounded Rectangle 3"/>
                <p:cNvSpPr/>
                <p:nvPr/>
              </p:nvSpPr>
              <p:spPr>
                <a:xfrm>
                  <a:off x="5516118" y="2544318"/>
                  <a:ext cx="1021842" cy="1237555"/>
                </a:xfrm>
                <a:prstGeom prst="roundRect">
                  <a:avLst/>
                </a:prstGeom>
                <a:solidFill>
                  <a:schemeClr val="accent2">
                    <a:alpha val="46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0" name="Rounded Rectangle 9"/>
                <p:cNvSpPr/>
                <p:nvPr/>
              </p:nvSpPr>
              <p:spPr>
                <a:xfrm>
                  <a:off x="6560820" y="2661877"/>
                  <a:ext cx="419862" cy="788057"/>
                </a:xfrm>
                <a:prstGeom prst="roundRect">
                  <a:avLst/>
                </a:prstGeom>
                <a:solidFill>
                  <a:schemeClr val="tx2">
                    <a:alpha val="46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1" name="Rounded Rectangle 10"/>
                <p:cNvSpPr/>
                <p:nvPr/>
              </p:nvSpPr>
              <p:spPr>
                <a:xfrm>
                  <a:off x="6915150" y="3038095"/>
                  <a:ext cx="662178" cy="701318"/>
                </a:xfrm>
                <a:prstGeom prst="roundRect">
                  <a:avLst/>
                </a:prstGeom>
                <a:solidFill>
                  <a:schemeClr val="tx2">
                    <a:alpha val="46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76771666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Stark Effect 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Effect of an electric field on absorption or emission spectrum</a:t>
            </a:r>
          </a:p>
          <a:p>
            <a:r>
              <a:rPr lang="en-US" dirty="0" smtClean="0"/>
              <a:t>Change in dipole moment, </a:t>
            </a:r>
            <a:r>
              <a:rPr lang="en-US" dirty="0" err="1" smtClean="0"/>
              <a:t>Δμ</a:t>
            </a:r>
            <a:endParaRPr lang="en-US" dirty="0"/>
          </a:p>
          <a:p>
            <a:pPr lvl="1"/>
            <a:r>
              <a:rPr lang="en-US" dirty="0" smtClean="0"/>
              <a:t>Degree of charge separation for a transition</a:t>
            </a:r>
          </a:p>
          <a:p>
            <a:r>
              <a:rPr lang="en-US" dirty="0" smtClean="0"/>
              <a:t>Change in </a:t>
            </a:r>
            <a:r>
              <a:rPr lang="en-US" dirty="0" err="1" smtClean="0"/>
              <a:t>polarizability</a:t>
            </a:r>
            <a:r>
              <a:rPr lang="en-US" dirty="0" smtClean="0"/>
              <a:t>, </a:t>
            </a:r>
            <a:r>
              <a:rPr lang="en-US" dirty="0" err="1" smtClean="0"/>
              <a:t>Δ</a:t>
            </a:r>
            <a:r>
              <a:rPr lang="en-US" dirty="0" smtClean="0"/>
              <a:t>α</a:t>
            </a:r>
          </a:p>
          <a:p>
            <a:pPr lvl="1"/>
            <a:r>
              <a:rPr lang="en-US" dirty="0" smtClean="0"/>
              <a:t>Sensitivity of transition to the field</a:t>
            </a:r>
          </a:p>
        </p:txBody>
      </p:sp>
      <p:pic>
        <p:nvPicPr>
          <p:cNvPr id="4" name="Picture 3" descr="latex-image-1.pd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5950" y="4734863"/>
            <a:ext cx="4560783" cy="76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41833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140588"/>
            <a:ext cx="8042276" cy="768051"/>
          </a:xfrm>
        </p:spPr>
        <p:txBody>
          <a:bodyPr/>
          <a:lstStyle/>
          <a:p>
            <a:r>
              <a:rPr lang="en-US" dirty="0" smtClean="0"/>
              <a:t>Expected Effect on Spectra</a:t>
            </a:r>
            <a:endParaRPr lang="en-US" dirty="0"/>
          </a:p>
        </p:txBody>
      </p:sp>
      <p:pic>
        <p:nvPicPr>
          <p:cNvPr id="6" name="Picture 5" descr="Screen Shot 2016-05-25 at 11.53.55 PM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8388"/>
          <a:stretch/>
        </p:blipFill>
        <p:spPr>
          <a:xfrm>
            <a:off x="549275" y="2013453"/>
            <a:ext cx="3892973" cy="3384592"/>
          </a:xfrm>
          <a:prstGeom prst="rect">
            <a:avLst/>
          </a:prstGeom>
        </p:spPr>
      </p:pic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4607908" y="1901741"/>
            <a:ext cx="3983644" cy="3661971"/>
          </a:xfrm>
        </p:spPr>
        <p:txBody>
          <a:bodyPr>
            <a:normAutofit/>
          </a:bodyPr>
          <a:lstStyle/>
          <a:p>
            <a:r>
              <a:rPr lang="en-US" dirty="0" smtClean="0"/>
              <a:t>Linear Stark effect: line broadening </a:t>
            </a:r>
          </a:p>
          <a:p>
            <a:r>
              <a:rPr lang="en-US" dirty="0" smtClean="0"/>
              <a:t>Quadratic Stark effect: frequency shift</a:t>
            </a:r>
          </a:p>
          <a:p>
            <a:r>
              <a:rPr lang="en-US" dirty="0" smtClean="0"/>
              <a:t>Stark spectrum = “field on minus field off”</a:t>
            </a:r>
          </a:p>
          <a:p>
            <a:pPr lvl="1"/>
            <a:r>
              <a:rPr lang="en-US" dirty="0" smtClean="0"/>
              <a:t>Analyze this based on derivatives</a:t>
            </a:r>
          </a:p>
        </p:txBody>
      </p:sp>
    </p:spTree>
    <p:extLst>
      <p:ext uri="{BB962C8B-B14F-4D97-AF65-F5344CB8AC3E}">
        <p14:creationId xmlns:p14="http://schemas.microsoft.com/office/powerpoint/2010/main" val="254283252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Experimental 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smtClean="0"/>
              <a:t>Perform a calibration curve for DTDCPB under various applied electric fields</a:t>
            </a:r>
          </a:p>
          <a:p>
            <a:r>
              <a:rPr lang="en-US" dirty="0" smtClean="0"/>
              <a:t>Determine dependent parameters ( </a:t>
            </a:r>
            <a:r>
              <a:rPr lang="el-GR" dirty="0" smtClean="0"/>
              <a:t>Δα</a:t>
            </a:r>
            <a:r>
              <a:rPr lang="en-US" dirty="0" smtClean="0"/>
              <a:t> and </a:t>
            </a:r>
            <a:r>
              <a:rPr lang="el-GR" dirty="0" smtClean="0"/>
              <a:t>Δµ</a:t>
            </a:r>
            <a:r>
              <a:rPr lang="en-US" dirty="0" smtClean="0"/>
              <a:t>)</a:t>
            </a:r>
          </a:p>
          <a:p>
            <a:pPr lvl="1"/>
            <a:r>
              <a:rPr lang="en-US" dirty="0" smtClean="0"/>
              <a:t>Allows us to back out the electric field felt by the molecule during a transition</a:t>
            </a:r>
          </a:p>
          <a:p>
            <a:r>
              <a:rPr lang="en-US" dirty="0" smtClean="0"/>
              <a:t>Perform pump-probe spectroscopy in a DTDCPB:PCBM blend</a:t>
            </a:r>
          </a:p>
          <a:p>
            <a:pPr lvl="1"/>
            <a:r>
              <a:rPr lang="en-US" dirty="0" smtClean="0"/>
              <a:t>Electric fields created by charge-transfer states and free charges will be distinct</a:t>
            </a:r>
          </a:p>
          <a:p>
            <a:pPr lvl="1"/>
            <a:r>
              <a:rPr lang="en-US" dirty="0" smtClean="0"/>
              <a:t>This experiment allows for in-operando studies of these pathways</a:t>
            </a:r>
          </a:p>
          <a:p>
            <a:r>
              <a:rPr lang="en-US" dirty="0" smtClean="0"/>
              <a:t>Future studies hope to correlate the local dielectric constant of the material with the dominant pathway</a:t>
            </a:r>
            <a:endParaRPr lang="en-US" dirty="0"/>
          </a:p>
          <a:p>
            <a:r>
              <a:rPr lang="en-US" b="1" dirty="0" smtClean="0"/>
              <a:t>It is crucial to first understand DTDCPB’s response to electric fields in both the ground and excited state, before moving to complex  </a:t>
            </a:r>
            <a:r>
              <a:rPr lang="en-US" b="1" i="1" dirty="0" smtClean="0"/>
              <a:t>in operando</a:t>
            </a:r>
            <a:r>
              <a:rPr lang="en-US" b="1" dirty="0" smtClean="0"/>
              <a:t> studies. </a:t>
            </a:r>
          </a:p>
        </p:txBody>
      </p:sp>
    </p:spTree>
    <p:extLst>
      <p:ext uri="{BB962C8B-B14F-4D97-AF65-F5344CB8AC3E}">
        <p14:creationId xmlns:p14="http://schemas.microsoft.com/office/powerpoint/2010/main" val="19646013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Excited-State Pump-probe Vibrational Spectroscopy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68"/>
          <a:stretch/>
        </p:blipFill>
        <p:spPr>
          <a:xfrm>
            <a:off x="537992" y="1822557"/>
            <a:ext cx="8064841" cy="4340118"/>
          </a:xfrm>
        </p:spPr>
      </p:pic>
    </p:spTree>
    <p:extLst>
      <p:ext uri="{BB962C8B-B14F-4D97-AF65-F5344CB8AC3E}">
        <p14:creationId xmlns:p14="http://schemas.microsoft.com/office/powerpoint/2010/main" val="14779616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Computational Overview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Frequencies of ground and excited states to obtain equilibrium behavior.</a:t>
            </a:r>
          </a:p>
          <a:p>
            <a:pPr lvl="1"/>
            <a:r>
              <a:rPr lang="en-US" dirty="0" smtClean="0"/>
              <a:t>With and without static electric field</a:t>
            </a:r>
          </a:p>
          <a:p>
            <a:r>
              <a:rPr lang="en-US" dirty="0" smtClean="0"/>
              <a:t>Move on to dynamics with BOMD</a:t>
            </a:r>
          </a:p>
          <a:p>
            <a:pPr lvl="1"/>
            <a:r>
              <a:rPr lang="en-US" dirty="0" smtClean="0"/>
              <a:t>Again with and without field for ground and excited states</a:t>
            </a:r>
          </a:p>
          <a:p>
            <a:r>
              <a:rPr lang="en-US" dirty="0" smtClean="0"/>
              <a:t>Calibrate Stark shifts from static electric field to understand the surrounding media</a:t>
            </a:r>
          </a:p>
          <a:p>
            <a:pPr lvl="1"/>
            <a:r>
              <a:rPr lang="en-US" dirty="0" smtClean="0"/>
              <a:t>This tells us how polarized the environment is.</a:t>
            </a:r>
          </a:p>
          <a:p>
            <a:pPr lvl="1"/>
            <a:r>
              <a:rPr lang="en-US" dirty="0" smtClean="0"/>
              <a:t>Compare this to experiment.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200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Some Nuts and Bolts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Level of theory</a:t>
            </a:r>
          </a:p>
          <a:p>
            <a:pPr lvl="1"/>
            <a:r>
              <a:rPr lang="en-US" dirty="0" smtClean="0"/>
              <a:t>B3LYP/6-311G(</a:t>
            </a:r>
            <a:r>
              <a:rPr lang="en-US" dirty="0" err="1" smtClean="0"/>
              <a:t>d,p</a:t>
            </a:r>
            <a:r>
              <a:rPr lang="en-US" dirty="0" smtClean="0"/>
              <a:t>)</a:t>
            </a:r>
          </a:p>
          <a:p>
            <a:pPr lvl="1"/>
            <a:r>
              <a:rPr lang="en-US" dirty="0" smtClean="0"/>
              <a:t>DFT functional scales well for larger molecules</a:t>
            </a:r>
          </a:p>
          <a:p>
            <a:r>
              <a:rPr lang="en-US" dirty="0" smtClean="0"/>
              <a:t>Electric Field strengths</a:t>
            </a:r>
          </a:p>
          <a:p>
            <a:pPr lvl="1"/>
            <a:r>
              <a:rPr lang="en-US" dirty="0" smtClean="0"/>
              <a:t>Examine two dipole orientations (+/- along Z)</a:t>
            </a:r>
          </a:p>
          <a:p>
            <a:pPr lvl="1"/>
            <a:r>
              <a:rPr lang="en-US" dirty="0" smtClean="0"/>
              <a:t>Calibrate Stark effect as a function of field magnitude</a:t>
            </a:r>
          </a:p>
          <a:p>
            <a:r>
              <a:rPr lang="en-US" dirty="0" smtClean="0"/>
              <a:t>Create ensemble of different orientations </a:t>
            </a:r>
          </a:p>
          <a:p>
            <a:pPr lvl="1"/>
            <a:r>
              <a:rPr lang="en-US" dirty="0" smtClean="0"/>
              <a:t>Check to see if field orientation does in fact affect the frequencies and Stark shift.</a:t>
            </a:r>
          </a:p>
          <a:p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1698125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168368"/>
            <a:ext cx="8042276" cy="669832"/>
          </a:xfrm>
        </p:spPr>
        <p:txBody>
          <a:bodyPr/>
          <a:lstStyle/>
          <a:p>
            <a:r>
              <a:rPr lang="en-US" sz="4000" dirty="0" smtClean="0"/>
              <a:t>DTDCPB </a:t>
            </a:r>
            <a:r>
              <a:rPr lang="en-US" sz="4000" dirty="0" smtClean="0"/>
              <a:t>IR Spectrum </a:t>
            </a:r>
            <a:r>
              <a:rPr lang="en-US" sz="4000" dirty="0" smtClean="0"/>
              <a:t>- No </a:t>
            </a:r>
            <a:r>
              <a:rPr lang="en-US" sz="4000" dirty="0" smtClean="0"/>
              <a:t>Field</a:t>
            </a:r>
            <a:endParaRPr lang="en-US" sz="4000" dirty="0"/>
          </a:p>
        </p:txBody>
      </p:sp>
      <p:pic>
        <p:nvPicPr>
          <p:cNvPr id="4" name="Picture 3" descr="CN1.gi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6733" y="1899032"/>
            <a:ext cx="5183635" cy="3415026"/>
          </a:xfrm>
          <a:prstGeom prst="rect">
            <a:avLst/>
          </a:prstGeom>
        </p:spPr>
      </p:pic>
      <p:pic>
        <p:nvPicPr>
          <p:cNvPr id="5" name="Picture 4" descr="CN2.gi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714090" y="1899019"/>
            <a:ext cx="5183558" cy="3414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12853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DTDCPB Baseline: IR Spectrum with no Field</a:t>
            </a:r>
            <a:endParaRPr lang="en-US" dirty="0"/>
          </a:p>
        </p:txBody>
      </p:sp>
      <p:pic>
        <p:nvPicPr>
          <p:cNvPr id="4" name="Content Placeholder 3" descr="Field0_IRSpec.png"/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9" b="181"/>
          <a:stretch/>
        </p:blipFill>
        <p:spPr>
          <a:xfrm>
            <a:off x="549275" y="1606231"/>
            <a:ext cx="8042276" cy="4837370"/>
          </a:xfrm>
        </p:spPr>
      </p:pic>
      <p:cxnSp>
        <p:nvCxnSpPr>
          <p:cNvPr id="7" name="Straight Arrow Connector 6"/>
          <p:cNvCxnSpPr/>
          <p:nvPr/>
        </p:nvCxnSpPr>
        <p:spPr>
          <a:xfrm flipH="1">
            <a:off x="6162921" y="4958772"/>
            <a:ext cx="812385" cy="67237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Content Placeholder 2"/>
          <p:cNvSpPr txBox="1">
            <a:spLocks/>
          </p:cNvSpPr>
          <p:nvPr/>
        </p:nvSpPr>
        <p:spPr>
          <a:xfrm>
            <a:off x="4912339" y="4607219"/>
            <a:ext cx="3314223" cy="4449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9250" indent="-34925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336550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6837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63650" indent="-295275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4622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828800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1177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398713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6892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 smtClean="0"/>
              <a:t>CN stretching frequencies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3520142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216695"/>
            <a:ext cx="8042276" cy="1336956"/>
          </a:xfrm>
        </p:spPr>
        <p:txBody>
          <a:bodyPr/>
          <a:lstStyle/>
          <a:p>
            <a:r>
              <a:rPr lang="en-US" sz="4400" dirty="0" smtClean="0"/>
              <a:t>Looking at CN Frequencies in External Field</a:t>
            </a:r>
            <a:endParaRPr lang="en-US" sz="4400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56472873"/>
              </p:ext>
            </p:extLst>
          </p:nvPr>
        </p:nvGraphicFramePr>
        <p:xfrm>
          <a:off x="1118879" y="1705601"/>
          <a:ext cx="7060998" cy="3486635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353666"/>
                <a:gridCol w="2353666"/>
                <a:gridCol w="2353666"/>
              </a:tblGrid>
              <a:tr h="743687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/>
                        <a:t>Applied Field</a:t>
                      </a:r>
                      <a:endParaRPr lang="en-US" sz="2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/>
                        <a:t>Symmetric Stretch (cm</a:t>
                      </a:r>
                      <a:r>
                        <a:rPr lang="en-US" sz="2200" baseline="30000" dirty="0" smtClean="0"/>
                        <a:t>-1</a:t>
                      </a:r>
                      <a:r>
                        <a:rPr lang="en-US" sz="2200" baseline="0" dirty="0" smtClean="0"/>
                        <a:t>)</a:t>
                      </a:r>
                      <a:endParaRPr lang="en-US" sz="2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dirty="0" smtClean="0"/>
                        <a:t>Asymmetric Stretch (cm</a:t>
                      </a:r>
                      <a:r>
                        <a:rPr lang="en-US" sz="2200" baseline="30000" dirty="0" smtClean="0"/>
                        <a:t>-1</a:t>
                      </a:r>
                      <a:r>
                        <a:rPr lang="en-US" sz="2200" baseline="0" dirty="0" smtClean="0"/>
                        <a:t>)*</a:t>
                      </a:r>
                      <a:endParaRPr lang="en-US" sz="2200" dirty="0" smtClean="0"/>
                    </a:p>
                  </a:txBody>
                  <a:tcPr anchor="ctr"/>
                </a:tc>
              </a:tr>
              <a:tr h="54492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0.5 V/</a:t>
                      </a:r>
                      <a:r>
                        <a:rPr lang="en-US" dirty="0" err="1" smtClean="0"/>
                        <a:t>Å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2331.56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2316.55</a:t>
                      </a:r>
                      <a:endParaRPr lang="en-US" dirty="0"/>
                    </a:p>
                  </a:txBody>
                  <a:tcPr anchor="ctr"/>
                </a:tc>
              </a:tr>
              <a:tr h="54492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0.25</a:t>
                      </a:r>
                      <a:r>
                        <a:rPr lang="en-US" baseline="0" dirty="0" smtClean="0"/>
                        <a:t> </a:t>
                      </a:r>
                      <a:r>
                        <a:rPr lang="en-US" dirty="0" smtClean="0"/>
                        <a:t>V/</a:t>
                      </a:r>
                      <a:r>
                        <a:rPr lang="en-US" dirty="0" err="1" smtClean="0"/>
                        <a:t>Å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2338.33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2326.76</a:t>
                      </a:r>
                      <a:endParaRPr lang="en-US" dirty="0"/>
                    </a:p>
                  </a:txBody>
                  <a:tcPr anchor="ctr"/>
                </a:tc>
              </a:tr>
              <a:tr h="544927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0 V/</a:t>
                      </a:r>
                      <a:r>
                        <a:rPr lang="en-US" dirty="0" err="1" smtClean="0"/>
                        <a:t>Å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2346.48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2334.28</a:t>
                      </a:r>
                      <a:endParaRPr lang="en-US" dirty="0"/>
                    </a:p>
                  </a:txBody>
                  <a:tcPr anchor="ctr"/>
                </a:tc>
              </a:tr>
              <a:tr h="54492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-0.25 V/</a:t>
                      </a:r>
                      <a:r>
                        <a:rPr lang="en-US" dirty="0" err="1" smtClean="0"/>
                        <a:t>Å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2338.97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2328.01</a:t>
                      </a:r>
                      <a:endParaRPr lang="en-US" dirty="0"/>
                    </a:p>
                  </a:txBody>
                  <a:tcPr anchor="ctr"/>
                </a:tc>
              </a:tr>
              <a:tr h="54492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-0.5 V/</a:t>
                      </a:r>
                      <a:r>
                        <a:rPr lang="en-US" dirty="0" err="1" smtClean="0"/>
                        <a:t>Å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2331.21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2318.22</a:t>
                      </a:r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Content Placeholder 2"/>
          <p:cNvSpPr txBox="1">
            <a:spLocks/>
          </p:cNvSpPr>
          <p:nvPr/>
        </p:nvSpPr>
        <p:spPr>
          <a:xfrm>
            <a:off x="1595105" y="5407023"/>
            <a:ext cx="7639939" cy="7097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9250" indent="-34925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336550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6837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63650" indent="-295275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4622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828800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1177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398713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6892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smtClean="0"/>
              <a:t>*Asymmetric stretch very low intensity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8240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I’mma</a:t>
            </a:r>
            <a:r>
              <a:rPr lang="en-US" dirty="0" smtClean="0"/>
              <a:t> put the process in broad strokes for BOMD set up and job submission in Gaussian here</a:t>
            </a:r>
            <a:r>
              <a:rPr lang="is-IS" dirty="0" smtClean="0"/>
              <a:t>… sometime... (Jay)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532080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Simulating Spectra from BOMD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9275" y="1600200"/>
            <a:ext cx="8042276" cy="4914899"/>
          </a:xfrm>
        </p:spPr>
        <p:txBody>
          <a:bodyPr>
            <a:normAutofit/>
          </a:bodyPr>
          <a:lstStyle/>
          <a:p>
            <a:r>
              <a:rPr lang="en-US" dirty="0" smtClean="0"/>
              <a:t>Dipole moment calculation from BOMD:</a:t>
            </a:r>
          </a:p>
          <a:p>
            <a:pPr lvl="1"/>
            <a:r>
              <a:rPr lang="en-US" dirty="0" smtClean="0"/>
              <a:t>BOMD dipole derived from electron density</a:t>
            </a:r>
          </a:p>
          <a:p>
            <a:pPr lvl="1"/>
            <a:endParaRPr lang="en-US" dirty="0"/>
          </a:p>
          <a:p>
            <a:pPr lvl="1"/>
            <a:r>
              <a:rPr lang="en-US" dirty="0" err="1" smtClean="0"/>
              <a:t>Opt+Freq</a:t>
            </a:r>
            <a:r>
              <a:rPr lang="en-US" dirty="0" smtClean="0"/>
              <a:t> in Gaussian simply uses the Hessian.</a:t>
            </a:r>
          </a:p>
          <a:p>
            <a:r>
              <a:rPr lang="en-US" dirty="0" smtClean="0"/>
              <a:t>Velocity </a:t>
            </a:r>
            <a:r>
              <a:rPr lang="en-US" dirty="0" err="1" smtClean="0"/>
              <a:t>Verlet</a:t>
            </a:r>
            <a:r>
              <a:rPr lang="en-US" dirty="0" smtClean="0"/>
              <a:t> Algorithm</a:t>
            </a:r>
          </a:p>
          <a:p>
            <a:endParaRPr lang="en-US" dirty="0" smtClean="0"/>
          </a:p>
          <a:p>
            <a:endParaRPr lang="en-US" dirty="0" smtClean="0"/>
          </a:p>
          <a:p>
            <a:r>
              <a:rPr lang="en-US" dirty="0" smtClean="0"/>
              <a:t>Obtaining spectra in </a:t>
            </a:r>
            <a:r>
              <a:rPr lang="en-US" dirty="0" err="1" smtClean="0"/>
              <a:t>Postprocessing</a:t>
            </a:r>
            <a:r>
              <a:rPr lang="en-US" dirty="0" smtClean="0"/>
              <a:t> for BOMD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1934" y="5721944"/>
            <a:ext cx="3956957" cy="64340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2054" y="2478100"/>
            <a:ext cx="5394909" cy="334856"/>
          </a:xfrm>
          <a:prstGeom prst="rect">
            <a:avLst/>
          </a:prstGeom>
        </p:spPr>
      </p:pic>
      <p:grpSp>
        <p:nvGrpSpPr>
          <p:cNvPr id="14" name="Group 13"/>
          <p:cNvGrpSpPr/>
          <p:nvPr/>
        </p:nvGrpSpPr>
        <p:grpSpPr>
          <a:xfrm>
            <a:off x="2325551" y="3978962"/>
            <a:ext cx="4480088" cy="1204381"/>
            <a:chOff x="2475864" y="3847439"/>
            <a:chExt cx="4480088" cy="1204381"/>
          </a:xfrm>
        </p:grpSpPr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75864" y="3847439"/>
              <a:ext cx="4480088" cy="561723"/>
            </a:xfrm>
            <a:prstGeom prst="rect">
              <a:avLst/>
            </a:prstGeom>
          </p:spPr>
        </p:pic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75864" y="4460889"/>
              <a:ext cx="4480088" cy="5909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5395935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Flowchart</a:t>
            </a:r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181424" y="1444532"/>
            <a:ext cx="8603309" cy="4933671"/>
            <a:chOff x="844637" y="787226"/>
            <a:chExt cx="10427267" cy="5671191"/>
          </a:xfrm>
        </p:grpSpPr>
        <p:sp>
          <p:nvSpPr>
            <p:cNvPr id="5" name="Rectangle 4"/>
            <p:cNvSpPr/>
            <p:nvPr/>
          </p:nvSpPr>
          <p:spPr>
            <a:xfrm>
              <a:off x="844637" y="3677162"/>
              <a:ext cx="1551398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</a:t>
              </a:r>
            </a:p>
            <a:p>
              <a:pPr algn="ctr"/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012485" y="3677160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2485" y="2829492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012485" y="4524828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241979" y="2829492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241979" y="3677160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241979" y="4524827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cxnSp>
          <p:nvCxnSpPr>
            <p:cNvPr id="12" name="Elbow Connector 11"/>
            <p:cNvCxnSpPr>
              <a:stCxn id="5" idx="3"/>
              <a:endCxn id="7" idx="1"/>
            </p:cNvCxnSpPr>
            <p:nvPr/>
          </p:nvCxnSpPr>
          <p:spPr>
            <a:xfrm flipV="1">
              <a:off x="2396035" y="3173677"/>
              <a:ext cx="616450" cy="84767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stCxn id="5" idx="3"/>
              <a:endCxn id="6" idx="1"/>
            </p:cNvCxnSpPr>
            <p:nvPr/>
          </p:nvCxnSpPr>
          <p:spPr>
            <a:xfrm flipV="1">
              <a:off x="2396035" y="4021345"/>
              <a:ext cx="616450" cy="2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Elbow Connector 13"/>
            <p:cNvCxnSpPr>
              <a:stCxn id="5" idx="3"/>
              <a:endCxn id="8" idx="1"/>
            </p:cNvCxnSpPr>
            <p:nvPr/>
          </p:nvCxnSpPr>
          <p:spPr>
            <a:xfrm>
              <a:off x="2396035" y="4021347"/>
              <a:ext cx="616450" cy="847666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>
              <a:stCxn id="7" idx="3"/>
              <a:endCxn id="9" idx="1"/>
            </p:cNvCxnSpPr>
            <p:nvPr/>
          </p:nvCxnSpPr>
          <p:spPr>
            <a:xfrm>
              <a:off x="4584431" y="3173677"/>
              <a:ext cx="657548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6" idx="3"/>
              <a:endCxn id="10" idx="1"/>
            </p:cNvCxnSpPr>
            <p:nvPr/>
          </p:nvCxnSpPr>
          <p:spPr>
            <a:xfrm>
              <a:off x="4584431" y="4021345"/>
              <a:ext cx="657548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/>
            <p:cNvCxnSpPr>
              <a:stCxn id="8" idx="3"/>
              <a:endCxn id="11" idx="1"/>
            </p:cNvCxnSpPr>
            <p:nvPr/>
          </p:nvCxnSpPr>
          <p:spPr>
            <a:xfrm flipV="1">
              <a:off x="4584431" y="4869012"/>
              <a:ext cx="657548" cy="1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/>
            <p:cNvSpPr/>
            <p:nvPr/>
          </p:nvSpPr>
          <p:spPr>
            <a:xfrm>
              <a:off x="7471473" y="1585043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471473" y="2145482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471473" y="2705921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71473" y="3265974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471473" y="3826027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471473" y="4386466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471473" y="4946905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471473" y="5507344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471473" y="6067783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cxnSp>
          <p:nvCxnSpPr>
            <p:cNvPr id="27" name="Elbow Connector 26"/>
            <p:cNvCxnSpPr>
              <a:stCxn id="9" idx="3"/>
              <a:endCxn id="18" idx="1"/>
            </p:cNvCxnSpPr>
            <p:nvPr/>
          </p:nvCxnSpPr>
          <p:spPr>
            <a:xfrm flipV="1">
              <a:off x="6813925" y="1780360"/>
              <a:ext cx="657548" cy="1393317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Elbow Connector 27"/>
            <p:cNvCxnSpPr>
              <a:stCxn id="9" idx="3"/>
              <a:endCxn id="19" idx="1"/>
            </p:cNvCxnSpPr>
            <p:nvPr/>
          </p:nvCxnSpPr>
          <p:spPr>
            <a:xfrm flipV="1">
              <a:off x="6813925" y="2340799"/>
              <a:ext cx="657548" cy="83287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Elbow Connector 28"/>
            <p:cNvCxnSpPr>
              <a:stCxn id="9" idx="3"/>
              <a:endCxn id="20" idx="1"/>
            </p:cNvCxnSpPr>
            <p:nvPr/>
          </p:nvCxnSpPr>
          <p:spPr>
            <a:xfrm flipV="1">
              <a:off x="6813925" y="2901238"/>
              <a:ext cx="657548" cy="27243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Elbow Connector 29"/>
            <p:cNvCxnSpPr>
              <a:stCxn id="10" idx="3"/>
              <a:endCxn id="21" idx="1"/>
            </p:cNvCxnSpPr>
            <p:nvPr/>
          </p:nvCxnSpPr>
          <p:spPr>
            <a:xfrm flipV="1">
              <a:off x="6813925" y="3461291"/>
              <a:ext cx="657548" cy="560054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Elbow Connector 30"/>
            <p:cNvCxnSpPr>
              <a:stCxn id="10" idx="3"/>
              <a:endCxn id="22" idx="1"/>
            </p:cNvCxnSpPr>
            <p:nvPr/>
          </p:nvCxnSpPr>
          <p:spPr>
            <a:xfrm flipV="1">
              <a:off x="6813925" y="4021344"/>
              <a:ext cx="657548" cy="1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Elbow Connector 31"/>
            <p:cNvCxnSpPr>
              <a:stCxn id="10" idx="3"/>
              <a:endCxn id="23" idx="1"/>
            </p:cNvCxnSpPr>
            <p:nvPr/>
          </p:nvCxnSpPr>
          <p:spPr>
            <a:xfrm>
              <a:off x="6813925" y="4021345"/>
              <a:ext cx="657548" cy="56043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Elbow Connector 32"/>
            <p:cNvCxnSpPr>
              <a:stCxn id="11" idx="3"/>
              <a:endCxn id="26" idx="1"/>
            </p:cNvCxnSpPr>
            <p:nvPr/>
          </p:nvCxnSpPr>
          <p:spPr>
            <a:xfrm>
              <a:off x="6813925" y="4869012"/>
              <a:ext cx="657548" cy="139408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Elbow Connector 33"/>
            <p:cNvCxnSpPr>
              <a:stCxn id="11" idx="3"/>
              <a:endCxn id="26" idx="1"/>
            </p:cNvCxnSpPr>
            <p:nvPr/>
          </p:nvCxnSpPr>
          <p:spPr>
            <a:xfrm>
              <a:off x="6813925" y="4869012"/>
              <a:ext cx="657548" cy="139408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Elbow Connector 34"/>
            <p:cNvCxnSpPr>
              <a:stCxn id="11" idx="3"/>
              <a:endCxn id="25" idx="1"/>
            </p:cNvCxnSpPr>
            <p:nvPr/>
          </p:nvCxnSpPr>
          <p:spPr>
            <a:xfrm>
              <a:off x="6813925" y="4869012"/>
              <a:ext cx="657548" cy="83364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Elbow Connector 35"/>
            <p:cNvCxnSpPr>
              <a:stCxn id="11" idx="3"/>
              <a:endCxn id="24" idx="1"/>
            </p:cNvCxnSpPr>
            <p:nvPr/>
          </p:nvCxnSpPr>
          <p:spPr>
            <a:xfrm>
              <a:off x="6813925" y="4869012"/>
              <a:ext cx="657548" cy="27321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Right Brace 36"/>
            <p:cNvSpPr/>
            <p:nvPr/>
          </p:nvSpPr>
          <p:spPr>
            <a:xfrm rot="16200000">
              <a:off x="5674091" y="-1874382"/>
              <a:ext cx="707720" cy="6030935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38" name="Right Brace 37"/>
            <p:cNvSpPr/>
            <p:nvPr/>
          </p:nvSpPr>
          <p:spPr>
            <a:xfrm rot="16200000">
              <a:off x="1574702" y="57162"/>
              <a:ext cx="707720" cy="2167848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763022" y="1230572"/>
              <a:ext cx="2438006" cy="3007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E-Field Applied in Gaussian</a:t>
              </a:r>
              <a:endParaRPr lang="en-US" sz="1100" dirty="0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360039" y="1227551"/>
              <a:ext cx="1057382" cy="3007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No E-Field</a:t>
              </a:r>
              <a:endParaRPr lang="en-US" sz="1100" dirty="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9699958" y="1596883"/>
              <a:ext cx="1571946" cy="14996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/>
                <a:t>E</a:t>
              </a:r>
              <a:r>
                <a:rPr lang="en-US" sz="1400" baseline="-25000" dirty="0" smtClean="0"/>
                <a:t>1</a:t>
              </a:r>
              <a:r>
                <a:rPr lang="en-US" sz="1400" baseline="30000" dirty="0" smtClean="0"/>
                <a:t>field</a:t>
              </a:r>
              <a:r>
                <a:rPr lang="en-US" sz="1400" dirty="0" smtClean="0"/>
                <a:t> IR Spectrum</a:t>
              </a:r>
              <a:endParaRPr lang="en-US" sz="1400" dirty="0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9699958" y="3265974"/>
              <a:ext cx="1571946" cy="15111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/>
                <a:t>E</a:t>
              </a:r>
              <a:r>
                <a:rPr lang="en-US" sz="1400" baseline="-25000" dirty="0"/>
                <a:t>2</a:t>
              </a:r>
              <a:r>
                <a:rPr lang="en-US" sz="1400" baseline="30000" dirty="0" smtClean="0"/>
                <a:t>field</a:t>
              </a:r>
              <a:r>
                <a:rPr lang="en-US" sz="1400" dirty="0" smtClean="0"/>
                <a:t> IR Spectrum</a:t>
              </a:r>
              <a:endParaRPr lang="en-US" sz="1400" dirty="0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9699958" y="4958745"/>
              <a:ext cx="1571946" cy="14996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/>
                <a:t>E</a:t>
              </a:r>
              <a:r>
                <a:rPr lang="en-US" sz="1400" baseline="-25000" dirty="0"/>
                <a:t>3</a:t>
              </a:r>
              <a:r>
                <a:rPr lang="en-US" sz="1400" baseline="30000" dirty="0" smtClean="0"/>
                <a:t>field</a:t>
              </a:r>
              <a:r>
                <a:rPr lang="en-US" sz="1400" dirty="0" smtClean="0"/>
                <a:t> IR Spectrum</a:t>
              </a:r>
              <a:endParaRPr lang="en-US" sz="1400" dirty="0"/>
            </a:p>
          </p:txBody>
        </p:sp>
        <p:cxnSp>
          <p:nvCxnSpPr>
            <p:cNvPr id="44" name="Elbow Connector 43"/>
            <p:cNvCxnSpPr>
              <a:stCxn id="18" idx="3"/>
              <a:endCxn id="41" idx="1"/>
            </p:cNvCxnSpPr>
            <p:nvPr/>
          </p:nvCxnSpPr>
          <p:spPr>
            <a:xfrm>
              <a:off x="9043419" y="1780360"/>
              <a:ext cx="656539" cy="56635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Elbow Connector 44"/>
            <p:cNvCxnSpPr>
              <a:stCxn id="19" idx="3"/>
              <a:endCxn id="41" idx="1"/>
            </p:cNvCxnSpPr>
            <p:nvPr/>
          </p:nvCxnSpPr>
          <p:spPr>
            <a:xfrm>
              <a:off x="9043419" y="2340799"/>
              <a:ext cx="656539" cy="592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Elbow Connector 45"/>
            <p:cNvCxnSpPr>
              <a:stCxn id="20" idx="3"/>
              <a:endCxn id="41" idx="1"/>
            </p:cNvCxnSpPr>
            <p:nvPr/>
          </p:nvCxnSpPr>
          <p:spPr>
            <a:xfrm flipV="1">
              <a:off x="9043419" y="2346719"/>
              <a:ext cx="656539" cy="55451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Elbow Connector 46"/>
            <p:cNvCxnSpPr>
              <a:stCxn id="21" idx="3"/>
            </p:cNvCxnSpPr>
            <p:nvPr/>
          </p:nvCxnSpPr>
          <p:spPr>
            <a:xfrm>
              <a:off x="9043419" y="3461291"/>
              <a:ext cx="656539" cy="557093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Elbow Connector 47"/>
            <p:cNvCxnSpPr>
              <a:stCxn id="23" idx="3"/>
              <a:endCxn id="42" idx="1"/>
            </p:cNvCxnSpPr>
            <p:nvPr/>
          </p:nvCxnSpPr>
          <p:spPr>
            <a:xfrm flipV="1">
              <a:off x="9043419" y="4021537"/>
              <a:ext cx="656539" cy="560246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Elbow Connector 48"/>
            <p:cNvCxnSpPr>
              <a:stCxn id="22" idx="3"/>
              <a:endCxn id="42" idx="1"/>
            </p:cNvCxnSpPr>
            <p:nvPr/>
          </p:nvCxnSpPr>
          <p:spPr>
            <a:xfrm>
              <a:off x="9043419" y="4021344"/>
              <a:ext cx="656539" cy="193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Elbow Connector 49"/>
            <p:cNvCxnSpPr>
              <a:stCxn id="24" idx="3"/>
              <a:endCxn id="43" idx="1"/>
            </p:cNvCxnSpPr>
            <p:nvPr/>
          </p:nvCxnSpPr>
          <p:spPr>
            <a:xfrm>
              <a:off x="9043419" y="5142222"/>
              <a:ext cx="656539" cy="56635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Elbow Connector 50"/>
            <p:cNvCxnSpPr>
              <a:stCxn id="26" idx="3"/>
              <a:endCxn id="43" idx="1"/>
            </p:cNvCxnSpPr>
            <p:nvPr/>
          </p:nvCxnSpPr>
          <p:spPr>
            <a:xfrm flipV="1">
              <a:off x="9043419" y="5708581"/>
              <a:ext cx="656539" cy="55451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Elbow Connector 51"/>
            <p:cNvCxnSpPr>
              <a:stCxn id="25" idx="3"/>
              <a:endCxn id="43" idx="1"/>
            </p:cNvCxnSpPr>
            <p:nvPr/>
          </p:nvCxnSpPr>
          <p:spPr>
            <a:xfrm>
              <a:off x="9043419" y="5702661"/>
              <a:ext cx="656539" cy="592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66797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549275" y="244135"/>
            <a:ext cx="8042276" cy="726634"/>
          </a:xfrm>
        </p:spPr>
        <p:txBody>
          <a:bodyPr/>
          <a:lstStyle/>
          <a:p>
            <a:r>
              <a:rPr lang="en-US" dirty="0" smtClean="0"/>
              <a:t>BOMD Test Case: Cyanide</a:t>
            </a:r>
            <a:endParaRPr lang="en-US" dirty="0"/>
          </a:p>
        </p:txBody>
      </p:sp>
      <p:pic>
        <p:nvPicPr>
          <p:cNvPr id="4" name="Picture 3" descr="Screen Shot 2016-05-26 at 9.53.54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874" y="1529969"/>
            <a:ext cx="8158677" cy="1519973"/>
          </a:xfrm>
          <a:prstGeom prst="rect">
            <a:avLst/>
          </a:prstGeom>
        </p:spPr>
      </p:pic>
      <p:sp>
        <p:nvSpPr>
          <p:cNvPr id="5" name="Content Placeholder 2"/>
          <p:cNvSpPr txBox="1">
            <a:spLocks/>
          </p:cNvSpPr>
          <p:nvPr/>
        </p:nvSpPr>
        <p:spPr>
          <a:xfrm>
            <a:off x="549275" y="3586042"/>
            <a:ext cx="7761255" cy="2460871"/>
          </a:xfrm>
          <a:prstGeom prst="rect">
            <a:avLst/>
          </a:prstGeom>
        </p:spPr>
        <p:txBody>
          <a:bodyPr>
            <a:normAutofit/>
          </a:bodyPr>
          <a:lstStyle>
            <a:lvl1pPr marL="349250" indent="-34925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336550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6837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63650" indent="-295275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4622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828800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1177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398713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6892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Thermal sampling provides initial conditions for positions and velocities</a:t>
            </a:r>
          </a:p>
          <a:p>
            <a:r>
              <a:rPr lang="en-US" dirty="0" smtClean="0"/>
              <a:t>Each set of values can then be used as a staring point for the production of a trajectory in time</a:t>
            </a:r>
          </a:p>
        </p:txBody>
      </p:sp>
    </p:spTree>
    <p:extLst>
      <p:ext uri="{BB962C8B-B14F-4D97-AF65-F5344CB8AC3E}">
        <p14:creationId xmlns:p14="http://schemas.microsoft.com/office/powerpoint/2010/main" val="421033976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244135"/>
            <a:ext cx="8042276" cy="726634"/>
          </a:xfrm>
        </p:spPr>
        <p:txBody>
          <a:bodyPr/>
          <a:lstStyle/>
          <a:p>
            <a:r>
              <a:rPr lang="en-US" dirty="0" smtClean="0"/>
              <a:t>BOMD Test Case: Cyanide</a:t>
            </a:r>
            <a:endParaRPr lang="en-US" dirty="0"/>
          </a:p>
        </p:txBody>
      </p:sp>
      <p:pic>
        <p:nvPicPr>
          <p:cNvPr id="6" name="Content Placeholder 5" descr="sped_CN_1.gif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27" b="6827"/>
          <a:stretch>
            <a:fillRect/>
          </a:stretch>
        </p:blipFill>
        <p:spPr>
          <a:xfrm>
            <a:off x="371475" y="1081740"/>
            <a:ext cx="4154488" cy="2243137"/>
          </a:xfrm>
        </p:spPr>
      </p:pic>
      <p:pic>
        <p:nvPicPr>
          <p:cNvPr id="7" name="Picture 6" descr="Screen Shot 2016-05-26 at 9.50.26 AM.png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244"/>
          <a:stretch/>
        </p:blipFill>
        <p:spPr>
          <a:xfrm>
            <a:off x="432280" y="3752991"/>
            <a:ext cx="3302164" cy="2508451"/>
          </a:xfrm>
          <a:prstGeom prst="rect">
            <a:avLst/>
          </a:prstGeom>
        </p:spPr>
      </p:pic>
      <p:sp>
        <p:nvSpPr>
          <p:cNvPr id="8" name="Content Placeholder 2"/>
          <p:cNvSpPr txBox="1">
            <a:spLocks/>
          </p:cNvSpPr>
          <p:nvPr/>
        </p:nvSpPr>
        <p:spPr>
          <a:xfrm>
            <a:off x="4828785" y="1081216"/>
            <a:ext cx="4116770" cy="5531734"/>
          </a:xfrm>
          <a:prstGeom prst="rect">
            <a:avLst/>
          </a:prstGeom>
        </p:spPr>
        <p:txBody>
          <a:bodyPr>
            <a:normAutofit/>
          </a:bodyPr>
          <a:lstStyle>
            <a:lvl1pPr marL="349250" indent="-34925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336550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6837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63650" indent="-295275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4622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828800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1177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398713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6892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Results for one trajectory: molecular vibration in a </a:t>
            </a:r>
            <a:r>
              <a:rPr lang="en-US" dirty="0" smtClean="0"/>
              <a:t>diatomic</a:t>
            </a:r>
          </a:p>
          <a:p>
            <a:r>
              <a:rPr lang="en-US" dirty="0" smtClean="0"/>
              <a:t>Total energy conserved!</a:t>
            </a:r>
            <a:endParaRPr lang="en-US" dirty="0" smtClean="0"/>
          </a:p>
        </p:txBody>
      </p:sp>
      <p:pic>
        <p:nvPicPr>
          <p:cNvPr id="3" name="Picture 2" descr="EnergyBreakdownCNBOMD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7499" y="3458421"/>
            <a:ext cx="4564055" cy="2953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03885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Tentative DTDCPB BOMD Results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75583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Conclusions and Future Directions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We’ve only looked at the ground state as a baseline</a:t>
            </a:r>
          </a:p>
          <a:p>
            <a:pPr lvl="1"/>
            <a:r>
              <a:rPr lang="en-US" dirty="0" smtClean="0"/>
              <a:t>Experiment will probe excited state and look at the evolution</a:t>
            </a:r>
          </a:p>
          <a:p>
            <a:pPr lvl="1"/>
            <a:r>
              <a:rPr lang="en-US" dirty="0" smtClean="0"/>
              <a:t>Time-resolved spectroscopy will come into play – thus techniques need to developed from our foundation to model this</a:t>
            </a:r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42600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Questions Slide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623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reeze">
  <a:themeElements>
    <a:clrScheme name="Breeze">
      <a:dk1>
        <a:sysClr val="windowText" lastClr="000000"/>
      </a:dk1>
      <a:lt1>
        <a:sysClr val="window" lastClr="FFFFFF"/>
      </a:lt1>
      <a:dk2>
        <a:srgbClr val="09213B"/>
      </a:dk2>
      <a:lt2>
        <a:srgbClr val="D5EDF4"/>
      </a:lt2>
      <a:accent1>
        <a:srgbClr val="2C7C9F"/>
      </a:accent1>
      <a:accent2>
        <a:srgbClr val="244A58"/>
      </a:accent2>
      <a:accent3>
        <a:srgbClr val="E2751D"/>
      </a:accent3>
      <a:accent4>
        <a:srgbClr val="FFB400"/>
      </a:accent4>
      <a:accent5>
        <a:srgbClr val="7EB606"/>
      </a:accent5>
      <a:accent6>
        <a:srgbClr val="C00000"/>
      </a:accent6>
      <a:hlink>
        <a:srgbClr val="7030A0"/>
      </a:hlink>
      <a:folHlink>
        <a:srgbClr val="00B0F0"/>
      </a:folHlink>
    </a:clrScheme>
    <a:fontScheme name="Breeze">
      <a:maj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ajorFont>
      <a:min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inorFont>
    </a:fontScheme>
    <a:fmtScheme name="Breeze">
      <a:fillStyleLst>
        <a:solidFill>
          <a:schemeClr val="phClr"/>
        </a:solidFill>
        <a:gradFill rotWithShape="1">
          <a:gsLst>
            <a:gs pos="31000">
              <a:schemeClr val="phClr">
                <a:tint val="100000"/>
                <a:shade val="100000"/>
                <a:satMod val="120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shade val="100000"/>
                <a:satMod val="120000"/>
              </a:schemeClr>
            </a:gs>
            <a:gs pos="69000">
              <a:schemeClr val="phClr">
                <a:tint val="80000"/>
                <a:shade val="100000"/>
                <a:satMod val="150000"/>
              </a:schemeClr>
            </a:gs>
            <a:gs pos="100000">
              <a:schemeClr val="phClr">
                <a:tint val="50000"/>
                <a:shade val="100000"/>
                <a:satMod val="15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dbl" algn="ctr">
          <a:solidFill>
            <a:schemeClr val="phClr"/>
          </a:solidFill>
          <a:prstDash val="solid"/>
        </a:ln>
        <a:ln w="31750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sx="101000" sy="101000" rotWithShape="0">
              <a:srgbClr val="000000">
                <a:alpha val="40000"/>
              </a:srgbClr>
            </a:outerShdw>
          </a:effectLst>
        </a:effectStyle>
        <a:effectStyle>
          <a:effectLst>
            <a:innerShdw blurRad="127000" dist="25400" dir="13500000">
              <a:srgbClr val="C0C0C0">
                <a:alpha val="75000"/>
              </a:srgbClr>
            </a:innerShdw>
            <a:outerShdw blurRad="88900" dist="25400" dir="5400000" sx="102000" sy="102000" algn="ctr" rotWithShape="0">
              <a:srgbClr val="C0C0C0">
                <a:alpha val="40000"/>
              </a:srgbClr>
            </a:outerShdw>
          </a:effectLst>
          <a:scene3d>
            <a:camera prst="perspectiveLeft" fov="300000"/>
            <a:lightRig rig="soft" dir="l">
              <a:rot lat="0" lon="0" rev="4200000"/>
            </a:lightRig>
          </a:scene3d>
          <a:sp3d extrusionH="38100" prstMaterial="powder">
            <a:bevelT w="50800" h="88900" prst="convex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40000"/>
                <a:satMod val="400000"/>
              </a:schemeClr>
              <a:schemeClr val="phClr">
                <a:tint val="10000"/>
                <a:satMod val="200000"/>
              </a:schemeClr>
            </a:duotone>
          </a:blip>
          <a:stretch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Breeze.thmx</Template>
  <TotalTime>1122</TotalTime>
  <Words>936</Words>
  <Application>Microsoft Macintosh PowerPoint</Application>
  <PresentationFormat>On-screen Show (4:3)</PresentationFormat>
  <Paragraphs>134</Paragraphs>
  <Slides>20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Breeze</vt:lpstr>
      <vt:lpstr> Computational Modeling of the Stark Effect for Solar-Relevant Materials</vt:lpstr>
      <vt:lpstr>DTDCPB – What is it?</vt:lpstr>
      <vt:lpstr>DTDCPB: A promising push-pull chromophore</vt:lpstr>
      <vt:lpstr>Stark Effect Introduction</vt:lpstr>
      <vt:lpstr>Expected Effect on Spectra</vt:lpstr>
      <vt:lpstr>Experimental Plan</vt:lpstr>
      <vt:lpstr>Excited-State Pump-probe Vibrational Spectroscopy</vt:lpstr>
      <vt:lpstr>Computational Overview</vt:lpstr>
      <vt:lpstr>Some Nuts and Bolts</vt:lpstr>
      <vt:lpstr>DTDCPB IR Spectrum - No Field</vt:lpstr>
      <vt:lpstr>DTDCPB Baseline: IR Spectrum with no Field</vt:lpstr>
      <vt:lpstr>Looking at CN Frequencies in External Field</vt:lpstr>
      <vt:lpstr>BOMD Introduction</vt:lpstr>
      <vt:lpstr>Simulating Spectra from BOMD</vt:lpstr>
      <vt:lpstr>BOMD Flowchart</vt:lpstr>
      <vt:lpstr>BOMD Test Case: Cyanide</vt:lpstr>
      <vt:lpstr>BOMD Test Case: Cyanide</vt:lpstr>
      <vt:lpstr>Tentative DTDCPB BOMD Results </vt:lpstr>
      <vt:lpstr>Conclusions and Future Directions </vt:lpstr>
      <vt:lpstr>Questions Slide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CHEM 565: Looking at Stark Effect and BOMD in DTDCPB</dc:title>
  <dc:creator>C</dc:creator>
  <cp:lastModifiedBy>Camille Houferak</cp:lastModifiedBy>
  <cp:revision>45</cp:revision>
  <dcterms:created xsi:type="dcterms:W3CDTF">2016-05-25T21:57:00Z</dcterms:created>
  <dcterms:modified xsi:type="dcterms:W3CDTF">2016-05-27T05:19:12Z</dcterms:modified>
</cp:coreProperties>
</file>