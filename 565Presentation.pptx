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sldIdLst>
    <p:sldId id="256" r:id="rId2"/>
    <p:sldId id="277" r:id="rId3"/>
    <p:sldId id="274" r:id="rId4"/>
    <p:sldId id="260" r:id="rId5"/>
    <p:sldId id="269" r:id="rId6"/>
    <p:sldId id="275" r:id="rId7"/>
    <p:sldId id="276" r:id="rId8"/>
    <p:sldId id="280" r:id="rId9"/>
    <p:sldId id="281" r:id="rId10"/>
    <p:sldId id="261" r:id="rId11"/>
    <p:sldId id="262" r:id="rId12"/>
    <p:sldId id="278" r:id="rId13"/>
    <p:sldId id="279" r:id="rId14"/>
    <p:sldId id="263" r:id="rId15"/>
    <p:sldId id="273" r:id="rId16"/>
    <p:sldId id="264" r:id="rId17"/>
    <p:sldId id="270" r:id="rId18"/>
    <p:sldId id="265" r:id="rId19"/>
    <p:sldId id="266" r:id="rId20"/>
    <p:sldId id="267" r:id="rId21"/>
    <p:sldId id="268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83"/>
    <p:restoredTop sz="94628"/>
  </p:normalViewPr>
  <p:slideViewPr>
    <p:cSldViewPr snapToGrid="0" snapToObjects="1">
      <p:cViewPr>
        <p:scale>
          <a:sx n="66" d="100"/>
          <a:sy n="66" d="100"/>
        </p:scale>
        <p:origin x="1028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46E8FB-7501-C843-9369-FCD60CCB4A56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405226-6688-2748-8DD8-E3AB12D452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0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“d-a-a” means donor-acceptor-acceptor”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82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Okay, so this slide is a </a:t>
            </a:r>
            <a:r>
              <a:rPr lang="en-US" dirty="0" err="1" smtClean="0"/>
              <a:t>clusterfuck</a:t>
            </a:r>
            <a:r>
              <a:rPr lang="en-US" dirty="0" smtClean="0"/>
              <a:t>. I</a:t>
            </a:r>
            <a:r>
              <a:rPr lang="en-US" baseline="0" dirty="0" smtClean="0"/>
              <a:t> decided to put a bunch of crap in, feel free to take out whatever you want.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884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You can feel free not to use this. Basically it just shows</a:t>
            </a:r>
            <a:r>
              <a:rPr lang="en-US" baseline="0" dirty="0" smtClean="0"/>
              <a:t> that we will be collecting the difference spectrum with and without the pump light (UV-vis range).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6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/>
            </a:r>
            <a:br>
              <a:rPr lang="en-US" sz="4000" dirty="0" smtClean="0"/>
            </a:br>
            <a:r>
              <a:rPr lang="en-US" sz="4000" dirty="0" smtClean="0"/>
              <a:t>Computational Modeling of the Stark Effect for Solar-Relevant Materials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dirty="0" smtClean="0"/>
              <a:t>Joseph 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TDCPB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069" y="1600201"/>
            <a:ext cx="3584509" cy="441170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DTDCPB – What is </a:t>
            </a:r>
            <a:r>
              <a:rPr lang="en-US" sz="4800" dirty="0" smtClean="0"/>
              <a:t>it?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4144380" cy="4343400"/>
          </a:xfrm>
        </p:spPr>
        <p:txBody>
          <a:bodyPr>
            <a:normAutofit/>
          </a:bodyPr>
          <a:lstStyle/>
          <a:p>
            <a:r>
              <a:rPr lang="en-US" sz="2200" dirty="0" smtClean="0"/>
              <a:t>It’s a mouthful, for starters! </a:t>
            </a:r>
          </a:p>
          <a:p>
            <a:r>
              <a:rPr lang="en-US" sz="2200" dirty="0" smtClean="0"/>
              <a:t>Importance of OPVs – cost effective, flexible</a:t>
            </a:r>
          </a:p>
          <a:p>
            <a:r>
              <a:rPr lang="en-US" sz="2200" dirty="0" smtClean="0"/>
              <a:t>Molecular configuration exhibits relatively small bandgap and low HOMO</a:t>
            </a:r>
          </a:p>
          <a:p>
            <a:r>
              <a:rPr lang="en-US" sz="2200" dirty="0"/>
              <a:t>PCE of 9.6±0.5%</a:t>
            </a:r>
          </a:p>
          <a:p>
            <a:pPr lvl="1"/>
            <a:r>
              <a:rPr lang="en-US" sz="2200" dirty="0"/>
              <a:t>Among the highest of small-molecule OPV devices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70413" y="6011904"/>
            <a:ext cx="419862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2-[(7-(4-[N,N-</a:t>
            </a:r>
            <a:r>
              <a:rPr lang="en-US" sz="1350" dirty="0" err="1"/>
              <a:t>bis</a:t>
            </a:r>
            <a:r>
              <a:rPr lang="en-US" sz="1350" dirty="0"/>
              <a:t>(4-methylphenyl)amino]phenyl)-2,1,3-benzothia-diazol-4-yl)methylene] propane-</a:t>
            </a:r>
            <a:r>
              <a:rPr lang="en-US" sz="1350" dirty="0" err="1"/>
              <a:t>dinitrile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80947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DTDCPB: A promising push-pull chromophore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445" y="1444532"/>
            <a:ext cx="3777615" cy="5102050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Possesses a ground state dipole</a:t>
            </a:r>
          </a:p>
          <a:p>
            <a:pPr lvl="1"/>
            <a:r>
              <a:rPr lang="en-US" dirty="0" smtClean="0"/>
              <a:t>“</a:t>
            </a:r>
            <a:r>
              <a:rPr lang="en-US" dirty="0" smtClean="0">
                <a:solidFill>
                  <a:schemeClr val="accent2"/>
                </a:solidFill>
              </a:rPr>
              <a:t>d</a:t>
            </a:r>
            <a:r>
              <a:rPr lang="en-US" dirty="0" smtClean="0"/>
              <a:t>-</a:t>
            </a:r>
            <a:r>
              <a:rPr lang="en-US" dirty="0" smtClean="0">
                <a:solidFill>
                  <a:schemeClr val="tx2"/>
                </a:solidFill>
              </a:rPr>
              <a:t>a</a:t>
            </a:r>
            <a:r>
              <a:rPr lang="en-US" dirty="0" smtClean="0"/>
              <a:t>-</a:t>
            </a:r>
            <a:r>
              <a:rPr lang="en-US" dirty="0" smtClean="0">
                <a:solidFill>
                  <a:schemeClr val="tx2"/>
                </a:solidFill>
              </a:rPr>
              <a:t>a</a:t>
            </a:r>
            <a:r>
              <a:rPr lang="en-US" dirty="0" smtClean="0"/>
              <a:t>” configuration</a:t>
            </a:r>
          </a:p>
          <a:p>
            <a:pPr lvl="1"/>
            <a:r>
              <a:rPr lang="en-US" dirty="0" smtClean="0"/>
              <a:t>Enhances hole-hopping</a:t>
            </a:r>
          </a:p>
          <a:p>
            <a:pPr lvl="1"/>
            <a:r>
              <a:rPr lang="en-US" dirty="0" smtClean="0"/>
              <a:t>Decreases charge recombination</a:t>
            </a:r>
          </a:p>
          <a:p>
            <a:r>
              <a:rPr lang="en-US" dirty="0" smtClean="0"/>
              <a:t>Nitrile groups ideal for IR spectroscopy</a:t>
            </a:r>
            <a:endParaRPr lang="en-US" dirty="0"/>
          </a:p>
          <a:p>
            <a:pPr lvl="1"/>
            <a:r>
              <a:rPr lang="en-US" dirty="0" smtClean="0"/>
              <a:t>Strong vibrational signature at 2260-2220 cm</a:t>
            </a:r>
            <a:r>
              <a:rPr lang="en-US" baseline="30000" dirty="0" smtClean="0"/>
              <a:t>-1</a:t>
            </a:r>
            <a:endParaRPr lang="en-US" dirty="0"/>
          </a:p>
          <a:p>
            <a:pPr lvl="1"/>
            <a:r>
              <a:rPr lang="en-US" dirty="0" smtClean="0"/>
              <a:t>Allows us to track Stark Shifts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7788" y="4892927"/>
            <a:ext cx="419862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2-[(7-(4-[N,N-</a:t>
            </a:r>
            <a:r>
              <a:rPr lang="en-US" sz="1350" dirty="0" err="1"/>
              <a:t>bis</a:t>
            </a:r>
            <a:r>
              <a:rPr lang="en-US" sz="1350" dirty="0"/>
              <a:t>(4-methylphenyl)amino]phenyl)-2,1,3-benzothia-diazol-4-yl)methylene] propane-</a:t>
            </a:r>
            <a:r>
              <a:rPr lang="en-US" sz="1350" dirty="0" err="1"/>
              <a:t>dinitrile</a:t>
            </a:r>
            <a:endParaRPr lang="en-US" sz="1350" dirty="0"/>
          </a:p>
        </p:txBody>
      </p:sp>
      <p:sp>
        <p:nvSpPr>
          <p:cNvPr id="44" name="TextBox 43"/>
          <p:cNvSpPr txBox="1"/>
          <p:nvPr/>
        </p:nvSpPr>
        <p:spPr>
          <a:xfrm>
            <a:off x="5186903" y="6242044"/>
            <a:ext cx="36595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Griffith, O. L. </a:t>
            </a:r>
            <a:r>
              <a:rPr lang="en-US" sz="1350" i="1" dirty="0"/>
              <a:t>et al.</a:t>
            </a:r>
            <a:r>
              <a:rPr lang="en-US" sz="1350" dirty="0"/>
              <a:t> </a:t>
            </a:r>
            <a:r>
              <a:rPr lang="en-US" sz="1350" i="1" dirty="0"/>
              <a:t>Phys Rev B</a:t>
            </a:r>
            <a:r>
              <a:rPr lang="en-US" sz="1350" dirty="0"/>
              <a:t> </a:t>
            </a:r>
            <a:r>
              <a:rPr lang="en-US" sz="1350" b="1" dirty="0"/>
              <a:t>92,</a:t>
            </a:r>
            <a:r>
              <a:rPr lang="en-US" sz="1350" dirty="0"/>
              <a:t> (2015).</a:t>
            </a:r>
          </a:p>
          <a:p>
            <a:endParaRPr lang="en-US" sz="1350" dirty="0"/>
          </a:p>
        </p:txBody>
      </p:sp>
      <p:grpSp>
        <p:nvGrpSpPr>
          <p:cNvPr id="12" name="Group 11"/>
          <p:cNvGrpSpPr/>
          <p:nvPr/>
        </p:nvGrpSpPr>
        <p:grpSpPr>
          <a:xfrm>
            <a:off x="4671441" y="1647825"/>
            <a:ext cx="3761422" cy="2611566"/>
            <a:chOff x="5516118" y="2289810"/>
            <a:chExt cx="2061972" cy="1492063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5684520" y="2446020"/>
              <a:ext cx="1706880" cy="381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/>
            <p:cNvGrpSpPr/>
            <p:nvPr/>
          </p:nvGrpSpPr>
          <p:grpSpPr>
            <a:xfrm>
              <a:off x="5516118" y="2289810"/>
              <a:ext cx="2061972" cy="1492063"/>
              <a:chOff x="5516118" y="2289810"/>
              <a:chExt cx="2061972" cy="1492063"/>
            </a:xfrm>
          </p:grpSpPr>
          <p:cxnSp>
            <p:nvCxnSpPr>
              <p:cNvPr id="8" name="Straight Connector 7"/>
              <p:cNvCxnSpPr/>
              <p:nvPr/>
            </p:nvCxnSpPr>
            <p:spPr>
              <a:xfrm>
                <a:off x="5821680" y="2289810"/>
                <a:ext cx="0" cy="32897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Group 6"/>
              <p:cNvGrpSpPr/>
              <p:nvPr/>
            </p:nvGrpSpPr>
            <p:grpSpPr>
              <a:xfrm>
                <a:off x="5516118" y="2544318"/>
                <a:ext cx="2061972" cy="1237555"/>
                <a:chOff x="5516118" y="2544318"/>
                <a:chExt cx="2061972" cy="1237555"/>
              </a:xfrm>
            </p:grpSpPr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6886" t="25117" r="13481"/>
                <a:stretch/>
              </p:blipFill>
              <p:spPr>
                <a:xfrm>
                  <a:off x="5543550" y="2647802"/>
                  <a:ext cx="2034540" cy="1134071"/>
                </a:xfrm>
                <a:prstGeom prst="rect">
                  <a:avLst/>
                </a:prstGeom>
              </p:spPr>
            </p:pic>
            <p:sp>
              <p:nvSpPr>
                <p:cNvPr id="4" name="Rounded Rectangle 3"/>
                <p:cNvSpPr/>
                <p:nvPr/>
              </p:nvSpPr>
              <p:spPr>
                <a:xfrm>
                  <a:off x="5516118" y="2544318"/>
                  <a:ext cx="1021842" cy="1237555"/>
                </a:xfrm>
                <a:prstGeom prst="roundRect">
                  <a:avLst/>
                </a:prstGeom>
                <a:solidFill>
                  <a:schemeClr val="accent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0" name="Rounded Rectangle 9"/>
                <p:cNvSpPr/>
                <p:nvPr/>
              </p:nvSpPr>
              <p:spPr>
                <a:xfrm>
                  <a:off x="6560820" y="2661877"/>
                  <a:ext cx="419862" cy="788057"/>
                </a:xfrm>
                <a:prstGeom prst="roundRect">
                  <a:avLst/>
                </a:prstGeom>
                <a:solidFill>
                  <a:schemeClr val="tx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1" name="Rounded Rectangle 10"/>
                <p:cNvSpPr/>
                <p:nvPr/>
              </p:nvSpPr>
              <p:spPr>
                <a:xfrm>
                  <a:off x="6915150" y="3038095"/>
                  <a:ext cx="662178" cy="701318"/>
                </a:xfrm>
                <a:prstGeom prst="roundRect">
                  <a:avLst/>
                </a:prstGeom>
                <a:solidFill>
                  <a:schemeClr val="tx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67716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Effect of an electric field on absorption or emission spectrum</a:t>
            </a:r>
          </a:p>
          <a:p>
            <a:r>
              <a:rPr lang="en-US" dirty="0" smtClean="0"/>
              <a:t>Change in dipole moment, </a:t>
            </a:r>
            <a:r>
              <a:rPr lang="en-US" dirty="0" err="1" smtClean="0"/>
              <a:t>Δμ</a:t>
            </a:r>
            <a:endParaRPr lang="en-US" dirty="0"/>
          </a:p>
          <a:p>
            <a:pPr lvl="1"/>
            <a:r>
              <a:rPr lang="en-US" dirty="0" smtClean="0"/>
              <a:t>Degree of charge separation for a transition</a:t>
            </a:r>
          </a:p>
          <a:p>
            <a:r>
              <a:rPr lang="en-US" dirty="0" smtClean="0"/>
              <a:t>Change in </a:t>
            </a:r>
            <a:r>
              <a:rPr lang="en-US" dirty="0" err="1" smtClean="0"/>
              <a:t>polarizability</a:t>
            </a:r>
            <a:r>
              <a:rPr lang="en-US" dirty="0" smtClean="0"/>
              <a:t>, </a:t>
            </a:r>
            <a:r>
              <a:rPr lang="en-US" dirty="0" err="1" smtClean="0"/>
              <a:t>Δ</a:t>
            </a:r>
            <a:r>
              <a:rPr lang="en-US" dirty="0" smtClean="0"/>
              <a:t>α</a:t>
            </a:r>
          </a:p>
          <a:p>
            <a:pPr lvl="1"/>
            <a:r>
              <a:rPr lang="en-US" dirty="0" smtClean="0"/>
              <a:t>Sensitivity of transition to the field</a:t>
            </a:r>
          </a:p>
        </p:txBody>
      </p:sp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5950" y="4734863"/>
            <a:ext cx="4560783" cy="76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40588"/>
            <a:ext cx="8042276" cy="768051"/>
          </a:xfrm>
        </p:spPr>
        <p:txBody>
          <a:bodyPr/>
          <a:lstStyle/>
          <a:p>
            <a:r>
              <a:rPr lang="en-US" dirty="0" smtClean="0"/>
              <a:t>Expected Effect on Spectra</a:t>
            </a:r>
            <a:endParaRPr lang="en-US" dirty="0"/>
          </a:p>
        </p:txBody>
      </p:sp>
      <p:pic>
        <p:nvPicPr>
          <p:cNvPr id="6" name="Picture 5" descr="Screen Shot 2016-05-25 at 11.53.55 PM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88"/>
          <a:stretch/>
        </p:blipFill>
        <p:spPr>
          <a:xfrm>
            <a:off x="549275" y="2013453"/>
            <a:ext cx="3892973" cy="3384592"/>
          </a:xfrm>
          <a:prstGeom prst="rect">
            <a:avLst/>
          </a:prstGeom>
        </p:spPr>
      </p:pic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607908" y="1901741"/>
            <a:ext cx="3983644" cy="3661971"/>
          </a:xfrm>
        </p:spPr>
        <p:txBody>
          <a:bodyPr>
            <a:normAutofit/>
          </a:bodyPr>
          <a:lstStyle/>
          <a:p>
            <a:r>
              <a:rPr lang="en-US" dirty="0" smtClean="0"/>
              <a:t>Linear Stark effect: line broadening </a:t>
            </a:r>
          </a:p>
          <a:p>
            <a:r>
              <a:rPr lang="en-US" dirty="0" smtClean="0"/>
              <a:t>Quadratic Stark effect: frequency shift</a:t>
            </a:r>
          </a:p>
          <a:p>
            <a:r>
              <a:rPr lang="en-US" dirty="0" smtClean="0"/>
              <a:t>Stark spectrum = “field on minus field off”</a:t>
            </a:r>
          </a:p>
          <a:p>
            <a:pPr lvl="1"/>
            <a:r>
              <a:rPr lang="en-US" dirty="0" smtClean="0"/>
              <a:t>Analyze this based on derivatives</a:t>
            </a:r>
          </a:p>
        </p:txBody>
      </p:sp>
    </p:spTree>
    <p:extLst>
      <p:ext uri="{BB962C8B-B14F-4D97-AF65-F5344CB8AC3E}">
        <p14:creationId xmlns:p14="http://schemas.microsoft.com/office/powerpoint/2010/main" val="254283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Perform a calibration curve for DTDCPB under various applied electric fields</a:t>
            </a:r>
          </a:p>
          <a:p>
            <a:r>
              <a:rPr lang="en-US" dirty="0" smtClean="0"/>
              <a:t>Determine dependent parameters ( </a:t>
            </a:r>
            <a:r>
              <a:rPr lang="el-GR" dirty="0" smtClean="0"/>
              <a:t>Δα</a:t>
            </a:r>
            <a:r>
              <a:rPr lang="en-US" dirty="0" smtClean="0"/>
              <a:t> and </a:t>
            </a:r>
            <a:r>
              <a:rPr lang="el-GR" dirty="0" smtClean="0"/>
              <a:t>Δµ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/>
              <a:t>Allows us to back out the electric field felt by the molecule during a transition</a:t>
            </a:r>
          </a:p>
          <a:p>
            <a:r>
              <a:rPr lang="en-US" dirty="0" smtClean="0"/>
              <a:t>Perform pump-probe spectroscopy in a DTDCPB:PCBM blend</a:t>
            </a:r>
          </a:p>
          <a:p>
            <a:pPr lvl="1"/>
            <a:r>
              <a:rPr lang="en-US" dirty="0" smtClean="0"/>
              <a:t>Electric fields created by charge-transfer states and free charges will be distinct</a:t>
            </a:r>
          </a:p>
          <a:p>
            <a:pPr lvl="1"/>
            <a:r>
              <a:rPr lang="en-US" dirty="0" smtClean="0"/>
              <a:t>This experiment allows for in-operando studies of these pathways</a:t>
            </a:r>
          </a:p>
          <a:p>
            <a:r>
              <a:rPr lang="en-US" dirty="0" smtClean="0"/>
              <a:t>Future studies hope to correlate the local dielectric constant of the material with the dominant pathway</a:t>
            </a:r>
            <a:endParaRPr lang="en-US" dirty="0"/>
          </a:p>
          <a:p>
            <a:r>
              <a:rPr lang="en-US" b="1" dirty="0" smtClean="0"/>
              <a:t>It is crucial to first understand DTDCPB’s response to electric fields in both the ground and excited state, before moving to complex  </a:t>
            </a:r>
            <a:r>
              <a:rPr lang="en-US" b="1" i="1" dirty="0" smtClean="0"/>
              <a:t>in operando</a:t>
            </a:r>
            <a:r>
              <a:rPr lang="en-US" b="1" dirty="0" smtClean="0"/>
              <a:t> studies. </a:t>
            </a:r>
          </a:p>
        </p:txBody>
      </p:sp>
    </p:spTree>
    <p:extLst>
      <p:ext uri="{BB962C8B-B14F-4D97-AF65-F5344CB8AC3E}">
        <p14:creationId xmlns:p14="http://schemas.microsoft.com/office/powerpoint/2010/main" val="1964601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Excited-State Pump-probe Vibrational Spectroscopy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68"/>
          <a:stretch/>
        </p:blipFill>
        <p:spPr>
          <a:xfrm>
            <a:off x="537992" y="1822557"/>
            <a:ext cx="8064841" cy="4340118"/>
          </a:xfrm>
        </p:spPr>
      </p:pic>
    </p:spTree>
    <p:extLst>
      <p:ext uri="{BB962C8B-B14F-4D97-AF65-F5344CB8AC3E}">
        <p14:creationId xmlns:p14="http://schemas.microsoft.com/office/powerpoint/2010/main" val="1477961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Computational 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Frequencies of ground and excited states to obtain equilibrium behavior.</a:t>
            </a:r>
          </a:p>
          <a:p>
            <a:pPr lvl="1"/>
            <a:r>
              <a:rPr lang="en-US" dirty="0" smtClean="0"/>
              <a:t>With and without static electric field</a:t>
            </a:r>
          </a:p>
          <a:p>
            <a:r>
              <a:rPr lang="en-US" dirty="0" smtClean="0"/>
              <a:t>Move on to dynamics with BOMD</a:t>
            </a:r>
          </a:p>
          <a:p>
            <a:pPr lvl="1"/>
            <a:r>
              <a:rPr lang="en-US" dirty="0" smtClean="0"/>
              <a:t>Again with and without field for ground and excited states</a:t>
            </a:r>
          </a:p>
          <a:p>
            <a:r>
              <a:rPr lang="en-US" dirty="0" smtClean="0"/>
              <a:t>Calibrate Stark shifts from static electric field to understand the surrounding media</a:t>
            </a:r>
          </a:p>
          <a:p>
            <a:pPr lvl="1"/>
            <a:r>
              <a:rPr lang="en-US" dirty="0" smtClean="0"/>
              <a:t>This tells us how polarized the environment is.</a:t>
            </a:r>
          </a:p>
          <a:p>
            <a:pPr lvl="1"/>
            <a:r>
              <a:rPr lang="en-US" dirty="0" smtClean="0"/>
              <a:t>Compare this to experiment.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200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Some Nuts and Bolts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Level of theory</a:t>
            </a:r>
          </a:p>
          <a:p>
            <a:pPr lvl="1"/>
            <a:r>
              <a:rPr lang="en-US" dirty="0" smtClean="0"/>
              <a:t>B3LYP/6-311G(</a:t>
            </a:r>
            <a:r>
              <a:rPr lang="en-US" dirty="0" err="1" smtClean="0"/>
              <a:t>d,p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/>
              <a:t>DFT functional scales well for larger molecules</a:t>
            </a:r>
          </a:p>
          <a:p>
            <a:r>
              <a:rPr lang="en-US" dirty="0" smtClean="0"/>
              <a:t>Electric Field strengths</a:t>
            </a:r>
          </a:p>
          <a:p>
            <a:pPr lvl="1"/>
            <a:r>
              <a:rPr lang="en-US" dirty="0" smtClean="0"/>
              <a:t>Examine two dipole orientations (+/- along Z)</a:t>
            </a:r>
          </a:p>
          <a:p>
            <a:pPr lvl="1"/>
            <a:r>
              <a:rPr lang="en-US" dirty="0" smtClean="0"/>
              <a:t>Calibrate Stark effect as a function of field magnitude</a:t>
            </a:r>
          </a:p>
          <a:p>
            <a:r>
              <a:rPr lang="en-US" dirty="0" smtClean="0"/>
              <a:t>Create ensemble of different orientations </a:t>
            </a:r>
          </a:p>
          <a:p>
            <a:pPr lvl="1"/>
            <a:r>
              <a:rPr lang="en-US" dirty="0" smtClean="0"/>
              <a:t>Check to see if field orientation does in fact affect the frequencies and Stark shift.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698125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99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 Baseline: IR Spectrum with no Field</a:t>
            </a:r>
            <a:endParaRPr lang="en-US" dirty="0"/>
          </a:p>
        </p:txBody>
      </p:sp>
      <p:pic>
        <p:nvPicPr>
          <p:cNvPr id="6" name="Content Placeholder 5" descr="CNvib1.gif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93" b="8293"/>
          <a:stretch>
            <a:fillRect/>
          </a:stretch>
        </p:blipFill>
        <p:spPr>
          <a:xfrm>
            <a:off x="2454178" y="1600201"/>
            <a:ext cx="4511790" cy="2436687"/>
          </a:xfrm>
        </p:spPr>
      </p:pic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 Baseline: IR Spectrum with no Field</a:t>
            </a:r>
            <a:endParaRPr lang="en-US" dirty="0"/>
          </a:p>
        </p:txBody>
      </p:sp>
      <p:pic>
        <p:nvPicPr>
          <p:cNvPr id="4" name="Content Placeholder 3" descr="Field0_IRSpec.png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9" b="181"/>
          <a:stretch/>
        </p:blipFill>
        <p:spPr>
          <a:xfrm>
            <a:off x="549275" y="1606231"/>
            <a:ext cx="8042276" cy="4837370"/>
          </a:xfrm>
        </p:spPr>
      </p:pic>
      <p:cxnSp>
        <p:nvCxnSpPr>
          <p:cNvPr id="7" name="Straight Arrow Connector 6"/>
          <p:cNvCxnSpPr/>
          <p:nvPr/>
        </p:nvCxnSpPr>
        <p:spPr>
          <a:xfrm flipH="1">
            <a:off x="6162921" y="4958772"/>
            <a:ext cx="812385" cy="67237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Content Placeholder 2"/>
          <p:cNvSpPr txBox="1">
            <a:spLocks/>
          </p:cNvSpPr>
          <p:nvPr/>
        </p:nvSpPr>
        <p:spPr>
          <a:xfrm>
            <a:off x="4912339" y="4607219"/>
            <a:ext cx="3314223" cy="4449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 smtClean="0"/>
              <a:t>CN stretching frequencies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35201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16695"/>
            <a:ext cx="8042276" cy="1336956"/>
          </a:xfrm>
        </p:spPr>
        <p:txBody>
          <a:bodyPr/>
          <a:lstStyle/>
          <a:p>
            <a:r>
              <a:rPr lang="en-US" sz="4400" dirty="0" smtClean="0"/>
              <a:t>Looking at CN Frequencies in External Field</a:t>
            </a:r>
            <a:endParaRPr lang="en-US" sz="4400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6472873"/>
              </p:ext>
            </p:extLst>
          </p:nvPr>
        </p:nvGraphicFramePr>
        <p:xfrm>
          <a:off x="1118879" y="1705601"/>
          <a:ext cx="7060998" cy="3486635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353666"/>
                <a:gridCol w="2353666"/>
                <a:gridCol w="2353666"/>
              </a:tblGrid>
              <a:tr h="743687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/>
                        <a:t>Applied Field</a:t>
                      </a:r>
                      <a:endParaRPr lang="en-US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/>
                        <a:t>Symmetric Stretch (cm</a:t>
                      </a:r>
                      <a:r>
                        <a:rPr lang="en-US" sz="2200" baseline="30000" dirty="0" smtClean="0"/>
                        <a:t>-1</a:t>
                      </a:r>
                      <a:r>
                        <a:rPr lang="en-US" sz="2200" baseline="0" dirty="0" smtClean="0"/>
                        <a:t>)</a:t>
                      </a:r>
                      <a:endParaRPr lang="en-US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/>
                        <a:t>Asymmetric Stretch (cm</a:t>
                      </a:r>
                      <a:r>
                        <a:rPr lang="en-US" sz="2200" baseline="30000" dirty="0" smtClean="0"/>
                        <a:t>-1</a:t>
                      </a:r>
                      <a:r>
                        <a:rPr lang="en-US" sz="2200" baseline="0" dirty="0" smtClean="0"/>
                        <a:t>)*</a:t>
                      </a:r>
                      <a:endParaRPr lang="en-US" sz="2200" dirty="0" smtClean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0.5 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2331.56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2316.55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0.25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2338.33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2326.76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0 V/</a:t>
                      </a:r>
                      <a:r>
                        <a:rPr lang="en-US" dirty="0" err="1" smtClean="0"/>
                        <a:t>Å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2346.48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2334.28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-0.25 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2338.97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2328.01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-0.5 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2331.21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2318.22</a:t>
                      </a:r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1595105" y="5407023"/>
            <a:ext cx="7639939" cy="709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smtClean="0"/>
              <a:t>*Asymmetric stretch very low intensity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2406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I’mma</a:t>
            </a:r>
            <a:r>
              <a:rPr lang="en-US" dirty="0" smtClean="0"/>
              <a:t> put the process in broad strokes for BOMD set up and job submission in Gaussian here</a:t>
            </a:r>
            <a:r>
              <a:rPr lang="is-IS" dirty="0" smtClean="0"/>
              <a:t>… sometime... (Jay)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Simulating Spectra from BOMD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275" y="1600200"/>
            <a:ext cx="8042276" cy="4914899"/>
          </a:xfrm>
        </p:spPr>
        <p:txBody>
          <a:bodyPr>
            <a:normAutofit/>
          </a:bodyPr>
          <a:lstStyle/>
          <a:p>
            <a:r>
              <a:rPr lang="en-US" dirty="0" smtClean="0"/>
              <a:t>Dipole moment calculation from BOMD:</a:t>
            </a:r>
          </a:p>
          <a:p>
            <a:pPr lvl="1"/>
            <a:r>
              <a:rPr lang="en-US" dirty="0" smtClean="0"/>
              <a:t>BOMD dipole derived from electron density</a:t>
            </a:r>
          </a:p>
          <a:p>
            <a:pPr lvl="1"/>
            <a:endParaRPr lang="en-US" dirty="0"/>
          </a:p>
          <a:p>
            <a:pPr lvl="1"/>
            <a:r>
              <a:rPr lang="en-US" dirty="0" err="1" smtClean="0"/>
              <a:t>Opt+Freq</a:t>
            </a:r>
            <a:r>
              <a:rPr lang="en-US" dirty="0" smtClean="0"/>
              <a:t> in Gaussian simply uses the Hessian.</a:t>
            </a:r>
          </a:p>
          <a:p>
            <a:r>
              <a:rPr lang="en-US" dirty="0" smtClean="0"/>
              <a:t>Velocity </a:t>
            </a:r>
            <a:r>
              <a:rPr lang="en-US" dirty="0" err="1" smtClean="0"/>
              <a:t>Verlet</a:t>
            </a:r>
            <a:r>
              <a:rPr lang="en-US" dirty="0" smtClean="0"/>
              <a:t> Algorithm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Obtaining spectra in </a:t>
            </a:r>
            <a:r>
              <a:rPr lang="en-US" dirty="0" err="1" smtClean="0"/>
              <a:t>Postprocessing</a:t>
            </a:r>
            <a:r>
              <a:rPr lang="en-US" dirty="0" smtClean="0"/>
              <a:t> for BOMD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934" y="5721944"/>
            <a:ext cx="3956957" cy="64340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054" y="2478100"/>
            <a:ext cx="5394909" cy="334856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2325551" y="3978962"/>
            <a:ext cx="4480088" cy="1204381"/>
            <a:chOff x="2475864" y="3847439"/>
            <a:chExt cx="4480088" cy="1204381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5864" y="3847439"/>
              <a:ext cx="4480088" cy="561723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5864" y="4460889"/>
              <a:ext cx="4480088" cy="5909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3959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Flowchart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81424" y="1444532"/>
            <a:ext cx="8603309" cy="4933671"/>
            <a:chOff x="844637" y="787226"/>
            <a:chExt cx="10427267" cy="5671191"/>
          </a:xfrm>
        </p:grpSpPr>
        <p:sp>
          <p:nvSpPr>
            <p:cNvPr id="5" name="Rectangle 4"/>
            <p:cNvSpPr/>
            <p:nvPr/>
          </p:nvSpPr>
          <p:spPr>
            <a:xfrm>
              <a:off x="844637" y="3677162"/>
              <a:ext cx="1551398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</a:t>
              </a:r>
            </a:p>
            <a:p>
              <a:pPr algn="ctr"/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12485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2485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12485" y="4524828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241979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41979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41979" y="4524827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cxnSp>
          <p:nvCxnSpPr>
            <p:cNvPr id="12" name="Elbow Connector 11"/>
            <p:cNvCxnSpPr>
              <a:stCxn id="5" idx="3"/>
              <a:endCxn id="7" idx="1"/>
            </p:cNvCxnSpPr>
            <p:nvPr/>
          </p:nvCxnSpPr>
          <p:spPr>
            <a:xfrm flipV="1">
              <a:off x="2396035" y="3173677"/>
              <a:ext cx="616450" cy="84767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5" idx="3"/>
              <a:endCxn id="6" idx="1"/>
            </p:cNvCxnSpPr>
            <p:nvPr/>
          </p:nvCxnSpPr>
          <p:spPr>
            <a:xfrm flipV="1">
              <a:off x="2396035" y="4021345"/>
              <a:ext cx="616450" cy="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lbow Connector 13"/>
            <p:cNvCxnSpPr>
              <a:stCxn id="5" idx="3"/>
              <a:endCxn id="8" idx="1"/>
            </p:cNvCxnSpPr>
            <p:nvPr/>
          </p:nvCxnSpPr>
          <p:spPr>
            <a:xfrm>
              <a:off x="2396035" y="4021347"/>
              <a:ext cx="616450" cy="84766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7" idx="3"/>
              <a:endCxn id="9" idx="1"/>
            </p:cNvCxnSpPr>
            <p:nvPr/>
          </p:nvCxnSpPr>
          <p:spPr>
            <a:xfrm>
              <a:off x="4584431" y="3173677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6" idx="3"/>
              <a:endCxn id="10" idx="1"/>
            </p:cNvCxnSpPr>
            <p:nvPr/>
          </p:nvCxnSpPr>
          <p:spPr>
            <a:xfrm>
              <a:off x="4584431" y="4021345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8" idx="3"/>
              <a:endCxn id="11" idx="1"/>
            </p:cNvCxnSpPr>
            <p:nvPr/>
          </p:nvCxnSpPr>
          <p:spPr>
            <a:xfrm flipV="1">
              <a:off x="4584431" y="4869012"/>
              <a:ext cx="657548" cy="1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471473" y="158504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1473" y="2145482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471473" y="2705921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71473" y="326597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471473" y="3826027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71473" y="4386466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71473" y="4946905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71473" y="550734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471473" y="606778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cxnSp>
          <p:nvCxnSpPr>
            <p:cNvPr id="27" name="Elbow Connector 26"/>
            <p:cNvCxnSpPr>
              <a:stCxn id="9" idx="3"/>
              <a:endCxn id="18" idx="1"/>
            </p:cNvCxnSpPr>
            <p:nvPr/>
          </p:nvCxnSpPr>
          <p:spPr>
            <a:xfrm flipV="1">
              <a:off x="6813925" y="1780360"/>
              <a:ext cx="657548" cy="1393317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3"/>
              <a:endCxn id="19" idx="1"/>
            </p:cNvCxnSpPr>
            <p:nvPr/>
          </p:nvCxnSpPr>
          <p:spPr>
            <a:xfrm flipV="1">
              <a:off x="6813925" y="2340799"/>
              <a:ext cx="657548" cy="83287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/>
            <p:cNvCxnSpPr>
              <a:stCxn id="9" idx="3"/>
              <a:endCxn id="20" idx="1"/>
            </p:cNvCxnSpPr>
            <p:nvPr/>
          </p:nvCxnSpPr>
          <p:spPr>
            <a:xfrm flipV="1">
              <a:off x="6813925" y="2901238"/>
              <a:ext cx="657548" cy="27243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/>
            <p:cNvCxnSpPr>
              <a:stCxn id="10" idx="3"/>
              <a:endCxn id="21" idx="1"/>
            </p:cNvCxnSpPr>
            <p:nvPr/>
          </p:nvCxnSpPr>
          <p:spPr>
            <a:xfrm flipV="1">
              <a:off x="6813925" y="3461291"/>
              <a:ext cx="657548" cy="560054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/>
            <p:cNvCxnSpPr>
              <a:stCxn id="10" idx="3"/>
              <a:endCxn id="22" idx="1"/>
            </p:cNvCxnSpPr>
            <p:nvPr/>
          </p:nvCxnSpPr>
          <p:spPr>
            <a:xfrm flipV="1">
              <a:off x="6813925" y="4021344"/>
              <a:ext cx="657548" cy="1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>
              <a:stCxn id="10" idx="3"/>
              <a:endCxn id="23" idx="1"/>
            </p:cNvCxnSpPr>
            <p:nvPr/>
          </p:nvCxnSpPr>
          <p:spPr>
            <a:xfrm>
              <a:off x="6813925" y="4021345"/>
              <a:ext cx="657548" cy="56043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lbow Connector 32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11" idx="3"/>
              <a:endCxn id="25" idx="1"/>
            </p:cNvCxnSpPr>
            <p:nvPr/>
          </p:nvCxnSpPr>
          <p:spPr>
            <a:xfrm>
              <a:off x="6813925" y="4869012"/>
              <a:ext cx="657548" cy="83364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lbow Connector 35"/>
            <p:cNvCxnSpPr>
              <a:stCxn id="11" idx="3"/>
              <a:endCxn id="24" idx="1"/>
            </p:cNvCxnSpPr>
            <p:nvPr/>
          </p:nvCxnSpPr>
          <p:spPr>
            <a:xfrm>
              <a:off x="6813925" y="4869012"/>
              <a:ext cx="657548" cy="27321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ight Brace 36"/>
            <p:cNvSpPr/>
            <p:nvPr/>
          </p:nvSpPr>
          <p:spPr>
            <a:xfrm rot="16200000">
              <a:off x="5674091" y="-1874382"/>
              <a:ext cx="707720" cy="603093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8" name="Right Brace 37"/>
            <p:cNvSpPr/>
            <p:nvPr/>
          </p:nvSpPr>
          <p:spPr>
            <a:xfrm rot="16200000">
              <a:off x="1574702" y="57162"/>
              <a:ext cx="707720" cy="2167848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3022" y="1230572"/>
              <a:ext cx="2438006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E-Field Applied in Gaussian</a:t>
              </a:r>
              <a:endParaRPr lang="en-US" sz="11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60039" y="1227551"/>
              <a:ext cx="1057382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No E-Field</a:t>
              </a:r>
              <a:endParaRPr lang="en-US" sz="11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699958" y="1596883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 smtClean="0"/>
                <a:t>1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99958" y="3265974"/>
              <a:ext cx="1571946" cy="15111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2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699958" y="4958745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3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cxnSp>
          <p:nvCxnSpPr>
            <p:cNvPr id="44" name="Elbow Connector 43"/>
            <p:cNvCxnSpPr>
              <a:stCxn id="18" idx="3"/>
              <a:endCxn id="41" idx="1"/>
            </p:cNvCxnSpPr>
            <p:nvPr/>
          </p:nvCxnSpPr>
          <p:spPr>
            <a:xfrm>
              <a:off x="9043419" y="1780360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/>
            <p:cNvCxnSpPr>
              <a:stCxn id="19" idx="3"/>
              <a:endCxn id="41" idx="1"/>
            </p:cNvCxnSpPr>
            <p:nvPr/>
          </p:nvCxnSpPr>
          <p:spPr>
            <a:xfrm>
              <a:off x="9043419" y="2340799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Elbow Connector 45"/>
            <p:cNvCxnSpPr>
              <a:stCxn id="20" idx="3"/>
              <a:endCxn id="41" idx="1"/>
            </p:cNvCxnSpPr>
            <p:nvPr/>
          </p:nvCxnSpPr>
          <p:spPr>
            <a:xfrm flipV="1">
              <a:off x="9043419" y="2346719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/>
            <p:cNvCxnSpPr>
              <a:stCxn id="21" idx="3"/>
            </p:cNvCxnSpPr>
            <p:nvPr/>
          </p:nvCxnSpPr>
          <p:spPr>
            <a:xfrm>
              <a:off x="9043419" y="3461291"/>
              <a:ext cx="656539" cy="5570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Elbow Connector 47"/>
            <p:cNvCxnSpPr>
              <a:stCxn id="23" idx="3"/>
              <a:endCxn id="42" idx="1"/>
            </p:cNvCxnSpPr>
            <p:nvPr/>
          </p:nvCxnSpPr>
          <p:spPr>
            <a:xfrm flipV="1">
              <a:off x="9043419" y="4021537"/>
              <a:ext cx="656539" cy="56024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/>
            <p:cNvCxnSpPr>
              <a:stCxn id="22" idx="3"/>
              <a:endCxn id="42" idx="1"/>
            </p:cNvCxnSpPr>
            <p:nvPr/>
          </p:nvCxnSpPr>
          <p:spPr>
            <a:xfrm>
              <a:off x="9043419" y="4021344"/>
              <a:ext cx="656539" cy="1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Elbow Connector 49"/>
            <p:cNvCxnSpPr>
              <a:stCxn id="24" idx="3"/>
              <a:endCxn id="43" idx="1"/>
            </p:cNvCxnSpPr>
            <p:nvPr/>
          </p:nvCxnSpPr>
          <p:spPr>
            <a:xfrm>
              <a:off x="9043419" y="5142222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/>
            <p:cNvCxnSpPr>
              <a:stCxn id="26" idx="3"/>
              <a:endCxn id="43" idx="1"/>
            </p:cNvCxnSpPr>
            <p:nvPr/>
          </p:nvCxnSpPr>
          <p:spPr>
            <a:xfrm flipV="1">
              <a:off x="9043419" y="5708581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/>
            <p:cNvCxnSpPr>
              <a:stCxn id="25" idx="3"/>
              <a:endCxn id="43" idx="1"/>
            </p:cNvCxnSpPr>
            <p:nvPr/>
          </p:nvCxnSpPr>
          <p:spPr>
            <a:xfrm>
              <a:off x="9043419" y="5702661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4" name="Picture 3" descr="Screen Shot 2016-05-26 at 9.53.54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74" y="1529969"/>
            <a:ext cx="8158677" cy="1519973"/>
          </a:xfrm>
          <a:prstGeom prst="rect">
            <a:avLst/>
          </a:prstGeo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549275" y="3586042"/>
            <a:ext cx="7761255" cy="2460871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Thermal sampling provides initial conditions for positions and velocities</a:t>
            </a:r>
          </a:p>
          <a:p>
            <a:r>
              <a:rPr lang="en-US" dirty="0" smtClean="0"/>
              <a:t>Each set of values can then be used as a staring point for the production of a trajectory in time</a:t>
            </a:r>
          </a:p>
        </p:txBody>
      </p:sp>
    </p:spTree>
    <p:extLst>
      <p:ext uri="{BB962C8B-B14F-4D97-AF65-F5344CB8AC3E}">
        <p14:creationId xmlns:p14="http://schemas.microsoft.com/office/powerpoint/2010/main" val="4210339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6" name="Content Placeholder 5" descr="sped_CN_1.gif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16" b="6816"/>
          <a:stretch>
            <a:fillRect/>
          </a:stretch>
        </p:blipFill>
        <p:spPr>
          <a:xfrm>
            <a:off x="549275" y="1081215"/>
            <a:ext cx="4154384" cy="2243662"/>
          </a:xfrm>
        </p:spPr>
      </p:pic>
      <p:pic>
        <p:nvPicPr>
          <p:cNvPr id="7" name="Picture 6" descr="Screen Shot 2016-05-26 at 9.50.26 AM.pn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244"/>
          <a:stretch/>
        </p:blipFill>
        <p:spPr>
          <a:xfrm>
            <a:off x="549275" y="3457119"/>
            <a:ext cx="4154384" cy="3155830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4828785" y="1081216"/>
            <a:ext cx="4116770" cy="5531734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Results for one trajectory: molecular vibration in a diatomic</a:t>
            </a:r>
          </a:p>
        </p:txBody>
      </p:sp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Tentative 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 clearly see a Stark shift in the CN</a:t>
            </a:r>
            <a:r>
              <a:rPr lang="en-US" baseline="30000" dirty="0" smtClean="0"/>
              <a:t>-</a:t>
            </a:r>
            <a:r>
              <a:rPr lang="en-US" dirty="0" smtClean="0"/>
              <a:t> test case.</a:t>
            </a:r>
          </a:p>
          <a:p>
            <a:pPr lvl="1"/>
            <a:r>
              <a:rPr lang="en-US" dirty="0" smtClean="0"/>
              <a:t>It should be visible with the whole molecule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1094</TotalTime>
  <Words>782</Words>
  <Application>Microsoft Office PowerPoint</Application>
  <PresentationFormat>On-screen Show (4:3)</PresentationFormat>
  <Paragraphs>133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Calibri</vt:lpstr>
      <vt:lpstr>News Gothic MT</vt:lpstr>
      <vt:lpstr>Wingdings 2</vt:lpstr>
      <vt:lpstr>Breeze</vt:lpstr>
      <vt:lpstr> Computational Modeling of the Stark Effect for Solar-Relevant Materials</vt:lpstr>
      <vt:lpstr>DTDCPB – What is it?</vt:lpstr>
      <vt:lpstr>DTDCPB: A promising push-pull chromophore</vt:lpstr>
      <vt:lpstr>Stark Effect Introduction</vt:lpstr>
      <vt:lpstr>Expected Effect on Spectra</vt:lpstr>
      <vt:lpstr>Experimental Plan</vt:lpstr>
      <vt:lpstr>Excited-State Pump-probe Vibrational Spectroscopy</vt:lpstr>
      <vt:lpstr>Computational Overview</vt:lpstr>
      <vt:lpstr>Some Nuts and Bolts</vt:lpstr>
      <vt:lpstr>Stark Effect Test Case: Cyanide</vt:lpstr>
      <vt:lpstr>DTDCPB Baseline: IR Spectrum with no Field</vt:lpstr>
      <vt:lpstr>DTDCPB Baseline: IR Spectrum with no Field</vt:lpstr>
      <vt:lpstr>Looking at CN Frequencies in External Field</vt:lpstr>
      <vt:lpstr>BOMD Introduction</vt:lpstr>
      <vt:lpstr>Simulating Spectra from BOMD</vt:lpstr>
      <vt:lpstr>BOMD Flowchart</vt:lpstr>
      <vt:lpstr>BOMD Test Case: Cyanide</vt:lpstr>
      <vt:lpstr>BOMD Test Case: Cyanide</vt:lpstr>
      <vt:lpstr>Tentative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Emily Rabe</cp:lastModifiedBy>
  <cp:revision>42</cp:revision>
  <dcterms:created xsi:type="dcterms:W3CDTF">2016-05-25T21:57:00Z</dcterms:created>
  <dcterms:modified xsi:type="dcterms:W3CDTF">2016-05-27T02:56:56Z</dcterms:modified>
</cp:coreProperties>
</file>