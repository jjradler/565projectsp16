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73" r:id="rId4"/>
    <p:sldId id="258" r:id="rId5"/>
    <p:sldId id="259" r:id="rId6"/>
    <p:sldId id="270" r:id="rId7"/>
    <p:sldId id="272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91"/>
    <p:restoredTop sz="94628"/>
  </p:normalViewPr>
  <p:slideViewPr>
    <p:cSldViewPr snapToGrid="0" snapToObjects="1">
      <p:cViewPr varScale="1">
        <p:scale>
          <a:sx n="204" d="100"/>
          <a:sy n="204" d="100"/>
        </p:scale>
        <p:origin x="2568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328166" y="1295400"/>
            <a:ext cx="6487668" cy="3152887"/>
          </a:xfrm>
          <a:prstGeom prst="rect">
            <a:avLst/>
          </a:prstGeo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</a:pPr>
            <a:endParaRPr sz="3200" kern="120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23999"/>
            <a:ext cx="6498158" cy="1724867"/>
          </a:xfr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ctr" defTabSz="914400" rtl="0" eaLnBrk="1" latinLnBrk="0" hangingPunct="1">
              <a:spcBef>
                <a:spcPct val="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4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22921" y="3299012"/>
            <a:ext cx="6498159" cy="91664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538" y="3352801"/>
            <a:ext cx="8416925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3538" y="4771029"/>
            <a:ext cx="8416925" cy="972671"/>
          </a:xfrm>
        </p:spPr>
        <p:txBody>
          <a:bodyPr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2"/>
          <p:cNvSpPr>
            <a:spLocks noGrp="1"/>
          </p:cNvSpPr>
          <p:nvPr>
            <p:ph type="pic" idx="13"/>
          </p:nvPr>
        </p:nvSpPr>
        <p:spPr>
          <a:xfrm>
            <a:off x="370980" y="363538"/>
            <a:ext cx="8402040" cy="2836862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403144"/>
            <a:ext cx="8056563" cy="1362075"/>
          </a:xfrm>
        </p:spPr>
        <p:txBody>
          <a:bodyPr anchor="b" anchorCtr="0"/>
          <a:lstStyle>
            <a:lvl1pPr algn="ctr">
              <a:defRPr sz="4600" b="0" cap="none" baseline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3736005"/>
            <a:ext cx="8056563" cy="1500187"/>
          </a:xfrm>
        </p:spPr>
        <p:txBody>
          <a:bodyPr anchor="t" anchorCtr="0"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9275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1071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4" y="107576"/>
            <a:ext cx="8042276" cy="1336956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4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9274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1070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1070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9" y="611872"/>
            <a:ext cx="3840480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2824" y="368300"/>
            <a:ext cx="3840480" cy="5575300"/>
          </a:xfrm>
        </p:spPr>
        <p:txBody>
          <a:bodyPr>
            <a:normAutofit/>
          </a:bodyPr>
          <a:lstStyle>
            <a:lvl1pPr>
              <a:spcBef>
                <a:spcPts val="2000"/>
              </a:spcBef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9" y="1787856"/>
            <a:ext cx="3840480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8" y="611872"/>
            <a:ext cx="4079545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8" y="1787856"/>
            <a:ext cx="4079545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 Placeholder 2"/>
          <p:cNvSpPr>
            <a:spLocks noGrp="1"/>
          </p:cNvSpPr>
          <p:nvPr>
            <p:ph type="pic" idx="1"/>
          </p:nvPr>
        </p:nvSpPr>
        <p:spPr>
          <a:xfrm>
            <a:off x="5090617" y="359392"/>
            <a:ext cx="3657600" cy="5318077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3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9792" y="368301"/>
            <a:ext cx="1524000" cy="55753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9274" y="368301"/>
            <a:ext cx="6689726" cy="5575300"/>
          </a:xfrm>
        </p:spPr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1600201"/>
            <a:ext cx="8042276" cy="4343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29835" y="627566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458" y="6275668"/>
            <a:ext cx="48409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97906" y="6275668"/>
            <a:ext cx="990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0">
                <a:solidFill>
                  <a:schemeClr val="bg1"/>
                </a:solidFill>
              </a:defRPr>
            </a:lvl1pPr>
          </a:lstStyle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9250" indent="-349250" algn="l" defTabSz="914400" rtl="0" eaLnBrk="1" latinLnBrk="0" hangingPunct="1">
        <a:spcBef>
          <a:spcPts val="2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336550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2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96837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63650" indent="-295275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622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28800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1177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398713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6892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61355"/>
            <a:ext cx="6498158" cy="1724867"/>
          </a:xfrm>
        </p:spPr>
        <p:txBody>
          <a:bodyPr/>
          <a:lstStyle/>
          <a:p>
            <a:r>
              <a:rPr lang="en-US" sz="4000" dirty="0" smtClean="0"/>
              <a:t/>
            </a:r>
            <a:br>
              <a:rPr lang="en-US" sz="4000" dirty="0" smtClean="0"/>
            </a:br>
            <a:r>
              <a:rPr lang="en-US" sz="4000" dirty="0" smtClean="0"/>
              <a:t>Application of </a:t>
            </a:r>
            <a:r>
              <a:rPr lang="en-US" sz="4000" dirty="0" smtClean="0"/>
              <a:t>BOMD for Simulating Spectra of</a:t>
            </a:r>
            <a:r>
              <a:rPr lang="en-US" sz="4000" dirty="0" smtClean="0"/>
              <a:t> Organic Semiconductors</a:t>
            </a:r>
            <a:endParaRPr lang="en-US" sz="4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Camille </a:t>
            </a:r>
            <a:r>
              <a:rPr lang="en-US" dirty="0" err="1" smtClean="0"/>
              <a:t>Houferak</a:t>
            </a:r>
            <a:endParaRPr lang="en-US" dirty="0" smtClean="0"/>
          </a:p>
          <a:p>
            <a:r>
              <a:rPr lang="en-US" dirty="0" smtClean="0"/>
              <a:t>Emily </a:t>
            </a:r>
            <a:r>
              <a:rPr lang="en-US" dirty="0" err="1" smtClean="0"/>
              <a:t>Rabe</a:t>
            </a:r>
            <a:endParaRPr lang="en-US" dirty="0" smtClean="0"/>
          </a:p>
          <a:p>
            <a:r>
              <a:rPr lang="en-US" smtClean="0"/>
              <a:t>J. </a:t>
            </a:r>
            <a:r>
              <a:rPr lang="en-US" dirty="0" smtClean="0"/>
              <a:t>J. </a:t>
            </a:r>
            <a:r>
              <a:rPr lang="en-US" dirty="0" err="1" smtClean="0"/>
              <a:t>Radler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28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DTDCPB – What is it used for?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Emily will write slides </a:t>
            </a:r>
            <a:r>
              <a:rPr lang="en-US" smtClean="0"/>
              <a:t>for this part!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57536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TDCPB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069" y="1600201"/>
            <a:ext cx="3584509" cy="441170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DTDCPB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9275" y="1600201"/>
            <a:ext cx="4144380" cy="4343400"/>
          </a:xfrm>
        </p:spPr>
        <p:txBody>
          <a:bodyPr/>
          <a:lstStyle/>
          <a:p>
            <a:r>
              <a:rPr lang="en-US" sz="2400" dirty="0" smtClean="0"/>
              <a:t>Importance of OSC – cost effective, flexible</a:t>
            </a:r>
          </a:p>
          <a:p>
            <a:r>
              <a:rPr lang="en-US" sz="2400" dirty="0" smtClean="0"/>
              <a:t>DTDCPB has “DAA” molecular configuration –smaller </a:t>
            </a:r>
            <a:r>
              <a:rPr lang="en-US" sz="2400" dirty="0" err="1" smtClean="0"/>
              <a:t>bandgap</a:t>
            </a:r>
            <a:r>
              <a:rPr lang="en-US" sz="2400" dirty="0" smtClean="0"/>
              <a:t> and low HOMO</a:t>
            </a:r>
          </a:p>
          <a:p>
            <a:r>
              <a:rPr lang="en-US" sz="2400" dirty="0" smtClean="0"/>
              <a:t>Can act as fairly good donor in OSC (around 6% efficiency)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05672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Experimental Perspective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554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Experiment/Computation Combined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1203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Computational Methods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68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Simulating Spectra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9275" y="1600200"/>
            <a:ext cx="8042276" cy="4914899"/>
          </a:xfrm>
        </p:spPr>
        <p:txBody>
          <a:bodyPr/>
          <a:lstStyle/>
          <a:p>
            <a:r>
              <a:rPr lang="en-US" dirty="0" smtClean="0"/>
              <a:t>Dipole moment calculation </a:t>
            </a:r>
            <a:r>
              <a:rPr lang="en-US" dirty="0" smtClean="0"/>
              <a:t>from nuclear motion:</a:t>
            </a:r>
            <a:endParaRPr lang="en-US" dirty="0" smtClean="0"/>
          </a:p>
          <a:p>
            <a:pPr lvl="1"/>
            <a:r>
              <a:rPr lang="en-US" dirty="0" err="1" smtClean="0"/>
              <a:t>Wannier</a:t>
            </a:r>
            <a:r>
              <a:rPr lang="en-US" dirty="0" smtClean="0"/>
              <a:t> function </a:t>
            </a:r>
            <a:r>
              <a:rPr lang="en-US" dirty="0" smtClean="0"/>
              <a:t>(Example)</a:t>
            </a:r>
            <a:endParaRPr lang="en-US" dirty="0" smtClean="0"/>
          </a:p>
          <a:p>
            <a:pPr lvl="1"/>
            <a:endParaRPr lang="en-US" dirty="0" smtClean="0"/>
          </a:p>
          <a:p>
            <a:r>
              <a:rPr lang="en-US" dirty="0" smtClean="0"/>
              <a:t>Velocity </a:t>
            </a:r>
            <a:r>
              <a:rPr lang="en-US" dirty="0" err="1" smtClean="0"/>
              <a:t>Verlet</a:t>
            </a:r>
            <a:r>
              <a:rPr lang="en-US" dirty="0" smtClean="0"/>
              <a:t> Algorithm </a:t>
            </a:r>
            <a:r>
              <a:rPr lang="en-US" dirty="0" smtClean="0"/>
              <a:t>for MD:</a:t>
            </a:r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Obtaining spectra in </a:t>
            </a:r>
            <a:r>
              <a:rPr lang="en-US" dirty="0" err="1" smtClean="0"/>
              <a:t>Postprocessing</a:t>
            </a:r>
            <a:endParaRPr lang="en-US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846" y="2528732"/>
            <a:ext cx="2797833" cy="53879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3963" y="3613015"/>
            <a:ext cx="4152900" cy="5207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6663" y="4250076"/>
            <a:ext cx="4140200" cy="5461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1934" y="5503122"/>
            <a:ext cx="3956957" cy="643408"/>
          </a:xfrm>
          <a:prstGeom prst="rect">
            <a:avLst/>
          </a:prstGeom>
        </p:spPr>
      </p:pic>
      <p:sp>
        <p:nvSpPr>
          <p:cNvPr id="10" name="Curved Left Arrow 9"/>
          <p:cNvSpPr/>
          <p:nvPr/>
        </p:nvSpPr>
        <p:spPr>
          <a:xfrm>
            <a:off x="6642090" y="2531153"/>
            <a:ext cx="834390" cy="3423877"/>
          </a:xfrm>
          <a:prstGeom prst="curvedLef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0602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Stark Effect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418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Stark Effect Test Case: Cyanide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399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Tentative DTDCPB Stark Effect Results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1285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I’mma</a:t>
            </a:r>
            <a:r>
              <a:rPr lang="en-US" dirty="0" smtClean="0"/>
              <a:t> put the process in broad strokes for BOMD set up and job submission in Gaussian here</a:t>
            </a:r>
            <a:r>
              <a:rPr lang="is-IS" dirty="0" smtClean="0"/>
              <a:t>… sometime... (Jay)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53208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Flowchart</a:t>
            </a:r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181424" y="1444532"/>
            <a:ext cx="8603309" cy="4933671"/>
            <a:chOff x="844637" y="787226"/>
            <a:chExt cx="10427267" cy="5671191"/>
          </a:xfrm>
        </p:grpSpPr>
        <p:sp>
          <p:nvSpPr>
            <p:cNvPr id="5" name="Rectangle 4"/>
            <p:cNvSpPr/>
            <p:nvPr/>
          </p:nvSpPr>
          <p:spPr>
            <a:xfrm>
              <a:off x="844637" y="3677162"/>
              <a:ext cx="1551398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</a:t>
              </a:r>
            </a:p>
            <a:p>
              <a:pPr algn="ctr"/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012485" y="3677160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2485" y="2829492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012485" y="4524828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241979" y="2829492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241979" y="3677160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241979" y="4524827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cxnSp>
          <p:nvCxnSpPr>
            <p:cNvPr id="12" name="Elbow Connector 11"/>
            <p:cNvCxnSpPr>
              <a:stCxn id="5" idx="3"/>
              <a:endCxn id="7" idx="1"/>
            </p:cNvCxnSpPr>
            <p:nvPr/>
          </p:nvCxnSpPr>
          <p:spPr>
            <a:xfrm flipV="1">
              <a:off x="2396035" y="3173677"/>
              <a:ext cx="616450" cy="84767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stCxn id="5" idx="3"/>
              <a:endCxn id="6" idx="1"/>
            </p:cNvCxnSpPr>
            <p:nvPr/>
          </p:nvCxnSpPr>
          <p:spPr>
            <a:xfrm flipV="1">
              <a:off x="2396035" y="4021345"/>
              <a:ext cx="616450" cy="2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lbow Connector 13"/>
            <p:cNvCxnSpPr>
              <a:stCxn id="5" idx="3"/>
              <a:endCxn id="8" idx="1"/>
            </p:cNvCxnSpPr>
            <p:nvPr/>
          </p:nvCxnSpPr>
          <p:spPr>
            <a:xfrm>
              <a:off x="2396035" y="4021347"/>
              <a:ext cx="616450" cy="847666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>
              <a:stCxn id="7" idx="3"/>
              <a:endCxn id="9" idx="1"/>
            </p:cNvCxnSpPr>
            <p:nvPr/>
          </p:nvCxnSpPr>
          <p:spPr>
            <a:xfrm>
              <a:off x="4584431" y="3173677"/>
              <a:ext cx="657548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6" idx="3"/>
              <a:endCxn id="10" idx="1"/>
            </p:cNvCxnSpPr>
            <p:nvPr/>
          </p:nvCxnSpPr>
          <p:spPr>
            <a:xfrm>
              <a:off x="4584431" y="4021345"/>
              <a:ext cx="657548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/>
            <p:cNvCxnSpPr>
              <a:stCxn id="8" idx="3"/>
              <a:endCxn id="11" idx="1"/>
            </p:cNvCxnSpPr>
            <p:nvPr/>
          </p:nvCxnSpPr>
          <p:spPr>
            <a:xfrm flipV="1">
              <a:off x="4584431" y="4869012"/>
              <a:ext cx="657548" cy="1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/>
            <p:cNvSpPr/>
            <p:nvPr/>
          </p:nvSpPr>
          <p:spPr>
            <a:xfrm>
              <a:off x="7471473" y="1585043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471473" y="2145482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471473" y="2705921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71473" y="3265974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471473" y="3826027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471473" y="4386466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471473" y="4946905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471473" y="5507344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471473" y="6067783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cxnSp>
          <p:nvCxnSpPr>
            <p:cNvPr id="27" name="Elbow Connector 26"/>
            <p:cNvCxnSpPr>
              <a:stCxn id="9" idx="3"/>
              <a:endCxn id="18" idx="1"/>
            </p:cNvCxnSpPr>
            <p:nvPr/>
          </p:nvCxnSpPr>
          <p:spPr>
            <a:xfrm flipV="1">
              <a:off x="6813925" y="1780360"/>
              <a:ext cx="657548" cy="1393317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Elbow Connector 27"/>
            <p:cNvCxnSpPr>
              <a:stCxn id="9" idx="3"/>
              <a:endCxn id="19" idx="1"/>
            </p:cNvCxnSpPr>
            <p:nvPr/>
          </p:nvCxnSpPr>
          <p:spPr>
            <a:xfrm flipV="1">
              <a:off x="6813925" y="2340799"/>
              <a:ext cx="657548" cy="83287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Elbow Connector 28"/>
            <p:cNvCxnSpPr>
              <a:stCxn id="9" idx="3"/>
              <a:endCxn id="20" idx="1"/>
            </p:cNvCxnSpPr>
            <p:nvPr/>
          </p:nvCxnSpPr>
          <p:spPr>
            <a:xfrm flipV="1">
              <a:off x="6813925" y="2901238"/>
              <a:ext cx="657548" cy="27243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Elbow Connector 29"/>
            <p:cNvCxnSpPr>
              <a:stCxn id="10" idx="3"/>
              <a:endCxn id="21" idx="1"/>
            </p:cNvCxnSpPr>
            <p:nvPr/>
          </p:nvCxnSpPr>
          <p:spPr>
            <a:xfrm flipV="1">
              <a:off x="6813925" y="3461291"/>
              <a:ext cx="657548" cy="560054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Elbow Connector 30"/>
            <p:cNvCxnSpPr>
              <a:stCxn id="10" idx="3"/>
              <a:endCxn id="22" idx="1"/>
            </p:cNvCxnSpPr>
            <p:nvPr/>
          </p:nvCxnSpPr>
          <p:spPr>
            <a:xfrm flipV="1">
              <a:off x="6813925" y="4021344"/>
              <a:ext cx="657548" cy="1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Elbow Connector 31"/>
            <p:cNvCxnSpPr>
              <a:stCxn id="10" idx="3"/>
              <a:endCxn id="23" idx="1"/>
            </p:cNvCxnSpPr>
            <p:nvPr/>
          </p:nvCxnSpPr>
          <p:spPr>
            <a:xfrm>
              <a:off x="6813925" y="4021345"/>
              <a:ext cx="657548" cy="56043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Elbow Connector 32"/>
            <p:cNvCxnSpPr>
              <a:stCxn id="11" idx="3"/>
              <a:endCxn id="26" idx="1"/>
            </p:cNvCxnSpPr>
            <p:nvPr/>
          </p:nvCxnSpPr>
          <p:spPr>
            <a:xfrm>
              <a:off x="6813925" y="4869012"/>
              <a:ext cx="657548" cy="139408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Elbow Connector 33"/>
            <p:cNvCxnSpPr>
              <a:stCxn id="11" idx="3"/>
              <a:endCxn id="26" idx="1"/>
            </p:cNvCxnSpPr>
            <p:nvPr/>
          </p:nvCxnSpPr>
          <p:spPr>
            <a:xfrm>
              <a:off x="6813925" y="4869012"/>
              <a:ext cx="657548" cy="139408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Elbow Connector 34"/>
            <p:cNvCxnSpPr>
              <a:stCxn id="11" idx="3"/>
              <a:endCxn id="25" idx="1"/>
            </p:cNvCxnSpPr>
            <p:nvPr/>
          </p:nvCxnSpPr>
          <p:spPr>
            <a:xfrm>
              <a:off x="6813925" y="4869012"/>
              <a:ext cx="657548" cy="83364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Elbow Connector 35"/>
            <p:cNvCxnSpPr>
              <a:stCxn id="11" idx="3"/>
              <a:endCxn id="24" idx="1"/>
            </p:cNvCxnSpPr>
            <p:nvPr/>
          </p:nvCxnSpPr>
          <p:spPr>
            <a:xfrm>
              <a:off x="6813925" y="4869012"/>
              <a:ext cx="657548" cy="27321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ight Brace 36"/>
            <p:cNvSpPr/>
            <p:nvPr/>
          </p:nvSpPr>
          <p:spPr>
            <a:xfrm rot="16200000">
              <a:off x="5674091" y="-1874382"/>
              <a:ext cx="707720" cy="6030935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38" name="Right Brace 37"/>
            <p:cNvSpPr/>
            <p:nvPr/>
          </p:nvSpPr>
          <p:spPr>
            <a:xfrm rot="16200000">
              <a:off x="1574702" y="57162"/>
              <a:ext cx="707720" cy="2167848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763022" y="1230572"/>
              <a:ext cx="2438006" cy="3007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E-Field Applied in Gaussian</a:t>
              </a:r>
              <a:endParaRPr lang="en-US" sz="1100" dirty="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360039" y="1227551"/>
              <a:ext cx="1057382" cy="3007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No E-Field</a:t>
              </a:r>
              <a:endParaRPr lang="en-US" sz="1100" dirty="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9699958" y="1596883"/>
              <a:ext cx="1571946" cy="14996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 smtClean="0"/>
                <a:t>1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9699958" y="3265974"/>
              <a:ext cx="1571946" cy="15111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/>
                <a:t>2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9699958" y="4958745"/>
              <a:ext cx="1571946" cy="14996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/>
                <a:t>3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cxnSp>
          <p:nvCxnSpPr>
            <p:cNvPr id="44" name="Elbow Connector 43"/>
            <p:cNvCxnSpPr>
              <a:stCxn id="18" idx="3"/>
              <a:endCxn id="41" idx="1"/>
            </p:cNvCxnSpPr>
            <p:nvPr/>
          </p:nvCxnSpPr>
          <p:spPr>
            <a:xfrm>
              <a:off x="9043419" y="1780360"/>
              <a:ext cx="656539" cy="56635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Elbow Connector 44"/>
            <p:cNvCxnSpPr>
              <a:stCxn id="19" idx="3"/>
              <a:endCxn id="41" idx="1"/>
            </p:cNvCxnSpPr>
            <p:nvPr/>
          </p:nvCxnSpPr>
          <p:spPr>
            <a:xfrm>
              <a:off x="9043419" y="2340799"/>
              <a:ext cx="656539" cy="592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Elbow Connector 45"/>
            <p:cNvCxnSpPr>
              <a:stCxn id="20" idx="3"/>
              <a:endCxn id="41" idx="1"/>
            </p:cNvCxnSpPr>
            <p:nvPr/>
          </p:nvCxnSpPr>
          <p:spPr>
            <a:xfrm flipV="1">
              <a:off x="9043419" y="2346719"/>
              <a:ext cx="656539" cy="55451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Elbow Connector 46"/>
            <p:cNvCxnSpPr>
              <a:stCxn id="21" idx="3"/>
            </p:cNvCxnSpPr>
            <p:nvPr/>
          </p:nvCxnSpPr>
          <p:spPr>
            <a:xfrm>
              <a:off x="9043419" y="3461291"/>
              <a:ext cx="656539" cy="557093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Elbow Connector 47"/>
            <p:cNvCxnSpPr>
              <a:stCxn id="23" idx="3"/>
              <a:endCxn id="42" idx="1"/>
            </p:cNvCxnSpPr>
            <p:nvPr/>
          </p:nvCxnSpPr>
          <p:spPr>
            <a:xfrm flipV="1">
              <a:off x="9043419" y="4021537"/>
              <a:ext cx="656539" cy="560246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Elbow Connector 48"/>
            <p:cNvCxnSpPr>
              <a:stCxn id="22" idx="3"/>
              <a:endCxn id="42" idx="1"/>
            </p:cNvCxnSpPr>
            <p:nvPr/>
          </p:nvCxnSpPr>
          <p:spPr>
            <a:xfrm>
              <a:off x="9043419" y="4021344"/>
              <a:ext cx="656539" cy="193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Elbow Connector 49"/>
            <p:cNvCxnSpPr>
              <a:stCxn id="24" idx="3"/>
              <a:endCxn id="43" idx="1"/>
            </p:cNvCxnSpPr>
            <p:nvPr/>
          </p:nvCxnSpPr>
          <p:spPr>
            <a:xfrm>
              <a:off x="9043419" y="5142222"/>
              <a:ext cx="656539" cy="56635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Elbow Connector 50"/>
            <p:cNvCxnSpPr>
              <a:stCxn id="26" idx="3"/>
              <a:endCxn id="43" idx="1"/>
            </p:cNvCxnSpPr>
            <p:nvPr/>
          </p:nvCxnSpPr>
          <p:spPr>
            <a:xfrm flipV="1">
              <a:off x="9043419" y="5708581"/>
              <a:ext cx="656539" cy="55451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Elbow Connector 51"/>
            <p:cNvCxnSpPr>
              <a:stCxn id="25" idx="3"/>
              <a:endCxn id="43" idx="1"/>
            </p:cNvCxnSpPr>
            <p:nvPr/>
          </p:nvCxnSpPr>
          <p:spPr>
            <a:xfrm>
              <a:off x="9043419" y="5702661"/>
              <a:ext cx="656539" cy="592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6679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Test Case: Cyanide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0388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Tetnative</a:t>
            </a:r>
            <a:r>
              <a:rPr lang="en-US" dirty="0" smtClean="0"/>
              <a:t> DTDCPB BOMD Results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755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Conclusions and Future Directions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2600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Questions Slide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623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reeze">
  <a:themeElements>
    <a:clrScheme name="Breeze">
      <a:dk1>
        <a:sysClr val="windowText" lastClr="000000"/>
      </a:dk1>
      <a:lt1>
        <a:sysClr val="window" lastClr="FFFFFF"/>
      </a:lt1>
      <a:dk2>
        <a:srgbClr val="09213B"/>
      </a:dk2>
      <a:lt2>
        <a:srgbClr val="D5EDF4"/>
      </a:lt2>
      <a:accent1>
        <a:srgbClr val="2C7C9F"/>
      </a:accent1>
      <a:accent2>
        <a:srgbClr val="244A58"/>
      </a:accent2>
      <a:accent3>
        <a:srgbClr val="E2751D"/>
      </a:accent3>
      <a:accent4>
        <a:srgbClr val="FFB400"/>
      </a:accent4>
      <a:accent5>
        <a:srgbClr val="7EB606"/>
      </a:accent5>
      <a:accent6>
        <a:srgbClr val="C00000"/>
      </a:accent6>
      <a:hlink>
        <a:srgbClr val="7030A0"/>
      </a:hlink>
      <a:folHlink>
        <a:srgbClr val="00B0F0"/>
      </a:folHlink>
    </a:clrScheme>
    <a:fontScheme name="Breeze">
      <a:maj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ajorFont>
      <a:min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inorFont>
    </a:fontScheme>
    <a:fmtScheme name="Breeze">
      <a:fillStyleLst>
        <a:solidFill>
          <a:schemeClr val="phClr"/>
        </a:solidFill>
        <a:gradFill rotWithShape="1">
          <a:gsLst>
            <a:gs pos="31000">
              <a:schemeClr val="phClr">
                <a:tint val="100000"/>
                <a:shade val="100000"/>
                <a:satMod val="120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shade val="100000"/>
                <a:satMod val="120000"/>
              </a:schemeClr>
            </a:gs>
            <a:gs pos="69000">
              <a:schemeClr val="phClr">
                <a:tint val="80000"/>
                <a:shade val="100000"/>
                <a:satMod val="150000"/>
              </a:schemeClr>
            </a:gs>
            <a:gs pos="100000">
              <a:schemeClr val="phClr">
                <a:tint val="50000"/>
                <a:shade val="100000"/>
                <a:satMod val="15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dbl" algn="ctr">
          <a:solidFill>
            <a:schemeClr val="phClr"/>
          </a:solidFill>
          <a:prstDash val="solid"/>
        </a:ln>
        <a:ln w="31750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sx="101000" sy="101000" rotWithShape="0">
              <a:srgbClr val="000000">
                <a:alpha val="40000"/>
              </a:srgbClr>
            </a:outerShdw>
          </a:effectLst>
        </a:effectStyle>
        <a:effectStyle>
          <a:effectLst>
            <a:innerShdw blurRad="127000" dist="25400" dir="13500000">
              <a:srgbClr val="C0C0C0">
                <a:alpha val="75000"/>
              </a:srgbClr>
            </a:innerShdw>
            <a:outerShdw blurRad="88900" dist="25400" dir="5400000" sx="102000" sy="102000" algn="ctr" rotWithShape="0">
              <a:srgbClr val="C0C0C0">
                <a:alpha val="40000"/>
              </a:srgbClr>
            </a:outerShdw>
          </a:effectLst>
          <a:scene3d>
            <a:camera prst="perspectiveLeft" fov="300000"/>
            <a:lightRig rig="soft" dir="l">
              <a:rot lat="0" lon="0" rev="4200000"/>
            </a:lightRig>
          </a:scene3d>
          <a:sp3d extrusionH="38100" prstMaterial="powder">
            <a:bevelT w="50800" h="88900" prst="convex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40000"/>
                <a:satMod val="400000"/>
              </a:schemeClr>
              <a:schemeClr val="phClr">
                <a:tint val="10000"/>
                <a:satMod val="200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Breeze.thmx</Template>
  <TotalTime>53</TotalTime>
  <Words>227</Words>
  <Application>Microsoft Macintosh PowerPoint</Application>
  <PresentationFormat>On-screen Show (4:3)</PresentationFormat>
  <Paragraphs>53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News Gothic MT</vt:lpstr>
      <vt:lpstr>Wingdings 2</vt:lpstr>
      <vt:lpstr>Breeze</vt:lpstr>
      <vt:lpstr> Application of BOMD for Simulating Spectra of Organic Semiconductors</vt:lpstr>
      <vt:lpstr>DTDCPB – What is it used for?</vt:lpstr>
      <vt:lpstr>DTDCPB</vt:lpstr>
      <vt:lpstr>Experimental Perspective</vt:lpstr>
      <vt:lpstr>Experiment/Computation Combined</vt:lpstr>
      <vt:lpstr>Computational Methods</vt:lpstr>
      <vt:lpstr>Simulating Spectra</vt:lpstr>
      <vt:lpstr>Stark Effect Introduction</vt:lpstr>
      <vt:lpstr>Stark Effect Test Case: Cyanide</vt:lpstr>
      <vt:lpstr>Tentative DTDCPB Stark Effect Results</vt:lpstr>
      <vt:lpstr>BOMD Introduction</vt:lpstr>
      <vt:lpstr>BOMD Flowchart</vt:lpstr>
      <vt:lpstr>BOMD Test Case: Cyanide</vt:lpstr>
      <vt:lpstr>Tetnative DTDCPB BOMD Results </vt:lpstr>
      <vt:lpstr>Conclusions and Future Directions </vt:lpstr>
      <vt:lpstr>Questions Slide</vt:lpstr>
    </vt:vector>
  </TitlesOfParts>
  <Company/>
  <LinksUpToDate>false</LinksUpToDate>
  <SharedDoc>false</SharedDoc>
  <HyperlinksChanged>false</HyperlinksChanged>
  <AppVersion>15.0022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CHEM 565: Looking at Stark Effect and BOMD in DTDCPB</dc:title>
  <dc:creator>C</dc:creator>
  <cp:lastModifiedBy>JOSEPH J. RADLER</cp:lastModifiedBy>
  <cp:revision>15</cp:revision>
  <dcterms:created xsi:type="dcterms:W3CDTF">2016-05-25T21:57:00Z</dcterms:created>
  <dcterms:modified xsi:type="dcterms:W3CDTF">2016-05-26T18:07:53Z</dcterms:modified>
</cp:coreProperties>
</file>