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gif" ContentType="image/gif"/>
  <Default Extension="emf" ContentType="image/x-em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56" r:id="rId2"/>
    <p:sldId id="277" r:id="rId3"/>
    <p:sldId id="274" r:id="rId4"/>
    <p:sldId id="275" r:id="rId5"/>
    <p:sldId id="276" r:id="rId6"/>
    <p:sldId id="258" r:id="rId7"/>
    <p:sldId id="259" r:id="rId8"/>
    <p:sldId id="273" r:id="rId9"/>
    <p:sldId id="271" r:id="rId10"/>
    <p:sldId id="260" r:id="rId11"/>
    <p:sldId id="269" r:id="rId12"/>
    <p:sldId id="261" r:id="rId13"/>
    <p:sldId id="262" r:id="rId14"/>
    <p:sldId id="263" r:id="rId15"/>
    <p:sldId id="264" r:id="rId16"/>
    <p:sldId id="270" r:id="rId17"/>
    <p:sldId id="265" r:id="rId18"/>
    <p:sldId id="266" r:id="rId19"/>
    <p:sldId id="267" r:id="rId20"/>
    <p:sldId id="268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84"/>
    <p:restoredTop sz="94628"/>
  </p:normalViewPr>
  <p:slideViewPr>
    <p:cSldViewPr snapToGrid="0" snapToObjects="1">
      <p:cViewPr varScale="1">
        <p:scale>
          <a:sx n="134" d="100"/>
          <a:sy n="134" d="100"/>
        </p:scale>
        <p:origin x="200" y="16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6E8FB-7501-C843-9369-FCD60CCB4A56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405226-6688-2748-8DD8-E3AB12D452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0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“d-a-a” means donor-acceptor-acceptor”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82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Okay, so this slide is a </a:t>
            </a:r>
            <a:r>
              <a:rPr lang="en-US" dirty="0" err="1" smtClean="0"/>
              <a:t>clusterfuck</a:t>
            </a:r>
            <a:r>
              <a:rPr lang="en-US" dirty="0" smtClean="0"/>
              <a:t>. I</a:t>
            </a:r>
            <a:r>
              <a:rPr lang="en-US" baseline="0" dirty="0" smtClean="0"/>
              <a:t> decided to put a bunch of crap in, feel free to take out whatever you want.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84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 feel free not to use this. Basically it just shows</a:t>
            </a:r>
            <a:r>
              <a:rPr lang="en-US" baseline="0" dirty="0" smtClean="0"/>
              <a:t> that we will be collecting the difference spectrum with and without the pump light (UV-vis range).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6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gif"/><Relationship Id="rId3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4000" dirty="0" smtClean="0"/>
              <a:t>Computational Modeling of the Stark </a:t>
            </a:r>
            <a:r>
              <a:rPr lang="en-US" sz="4000" dirty="0" smtClean="0"/>
              <a:t>Effect </a:t>
            </a:r>
            <a:r>
              <a:rPr lang="en-US" sz="4000" dirty="0" smtClean="0"/>
              <a:t>in IR Chromophores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TDCPB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069" y="1600201"/>
            <a:ext cx="3584509" cy="44117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DTDCPB – What is </a:t>
            </a:r>
            <a:r>
              <a:rPr lang="en-US" sz="4800" dirty="0" smtClean="0"/>
              <a:t>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4144380" cy="4343400"/>
          </a:xfrm>
        </p:spPr>
        <p:txBody>
          <a:bodyPr>
            <a:normAutofit lnSpcReduction="10000"/>
          </a:bodyPr>
          <a:lstStyle/>
          <a:p>
            <a:r>
              <a:rPr lang="en-US" sz="2400" dirty="0" smtClean="0"/>
              <a:t>It’s a mouthful, for starters! </a:t>
            </a:r>
          </a:p>
          <a:p>
            <a:r>
              <a:rPr lang="en-US" sz="2400" dirty="0" smtClean="0"/>
              <a:t>Importance </a:t>
            </a:r>
            <a:r>
              <a:rPr lang="en-US" sz="2400" dirty="0" smtClean="0"/>
              <a:t>of OSC – cost effective, flexible</a:t>
            </a:r>
          </a:p>
          <a:p>
            <a:r>
              <a:rPr lang="en-US" sz="2400" dirty="0" smtClean="0"/>
              <a:t>Molecular configuration exhibits relatively small </a:t>
            </a:r>
            <a:r>
              <a:rPr lang="en-US" sz="2400" dirty="0" smtClean="0"/>
              <a:t>bandgap and low HOMO</a:t>
            </a:r>
          </a:p>
          <a:p>
            <a:r>
              <a:rPr lang="en-US" sz="2400" dirty="0" smtClean="0"/>
              <a:t>Can act as fairly good donor in OSC (around 6% efficiency)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47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DTDCPB: A promising push-pull chromophore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445" y="1444532"/>
            <a:ext cx="3777615" cy="5102050"/>
          </a:xfrm>
        </p:spPr>
        <p:txBody>
          <a:bodyPr>
            <a:normAutofit fontScale="85000" lnSpcReduction="20000"/>
          </a:bodyPr>
          <a:lstStyle/>
          <a:p>
            <a:r>
              <a:rPr lang="en-US" dirty="0" smtClean="0"/>
              <a:t>Possesses a ground state dipole</a:t>
            </a:r>
          </a:p>
          <a:p>
            <a:pPr lvl="1"/>
            <a:r>
              <a:rPr lang="en-US" dirty="0" smtClean="0"/>
              <a:t>“</a:t>
            </a:r>
            <a:r>
              <a:rPr lang="en-US" dirty="0" smtClean="0">
                <a:solidFill>
                  <a:schemeClr val="accent2"/>
                </a:solidFill>
              </a:rPr>
              <a:t>d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” configuration</a:t>
            </a:r>
          </a:p>
          <a:p>
            <a:pPr lvl="1"/>
            <a:r>
              <a:rPr lang="en-US" dirty="0" smtClean="0"/>
              <a:t>Enhances </a:t>
            </a:r>
            <a:r>
              <a:rPr lang="en-US" dirty="0" smtClean="0"/>
              <a:t>hole-hopping</a:t>
            </a:r>
            <a:endParaRPr lang="en-US" dirty="0" smtClean="0"/>
          </a:p>
          <a:p>
            <a:pPr lvl="1"/>
            <a:r>
              <a:rPr lang="en-US" dirty="0" smtClean="0"/>
              <a:t>Decreases charge recombination</a:t>
            </a:r>
          </a:p>
          <a:p>
            <a:r>
              <a:rPr lang="en-US" dirty="0"/>
              <a:t>PCE of 9.6±0.5</a:t>
            </a:r>
            <a:r>
              <a:rPr lang="en-US" dirty="0" smtClean="0"/>
              <a:t>%</a:t>
            </a:r>
          </a:p>
          <a:p>
            <a:pPr lvl="1"/>
            <a:r>
              <a:rPr lang="en-US" dirty="0" smtClean="0"/>
              <a:t>Among the highest of small-molecule OPV devices</a:t>
            </a:r>
            <a:endParaRPr lang="en-US" dirty="0"/>
          </a:p>
          <a:p>
            <a:r>
              <a:rPr lang="en-US" dirty="0" smtClean="0"/>
              <a:t>Nitrile groups ideal for IR spectroscopy</a:t>
            </a:r>
            <a:endParaRPr lang="en-US" dirty="0"/>
          </a:p>
          <a:p>
            <a:pPr lvl="1"/>
            <a:r>
              <a:rPr lang="en-US" dirty="0" smtClean="0"/>
              <a:t>Strong vibrational signature at 2260-2220 cm</a:t>
            </a:r>
            <a:r>
              <a:rPr lang="en-US" baseline="30000" dirty="0" smtClean="0"/>
              <a:t>-1</a:t>
            </a:r>
            <a:endParaRPr lang="en-US" dirty="0"/>
          </a:p>
          <a:p>
            <a:pPr lvl="1"/>
            <a:r>
              <a:rPr lang="en-US" dirty="0" smtClean="0"/>
              <a:t>Allows us to track Stark </a:t>
            </a:r>
            <a:r>
              <a:rPr lang="en-US" dirty="0" smtClean="0"/>
              <a:t>Shifts</a:t>
            </a:r>
            <a:endParaRPr lang="en-US" dirty="0" smtClean="0"/>
          </a:p>
        </p:txBody>
      </p:sp>
      <p:sp>
        <p:nvSpPr>
          <p:cNvPr id="43" name="TextBox 42"/>
          <p:cNvSpPr txBox="1"/>
          <p:nvPr/>
        </p:nvSpPr>
        <p:spPr>
          <a:xfrm>
            <a:off x="4647788" y="4892927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</a:t>
            </a:r>
            <a:r>
              <a:rPr lang="en-US" sz="1350" dirty="0"/>
              <a:t>)-2,1,3-benzothia-diazol-4-yl)methylene</a:t>
            </a:r>
            <a:r>
              <a:rPr lang="en-US" sz="1350" dirty="0"/>
              <a:t>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  <p:sp>
        <p:nvSpPr>
          <p:cNvPr id="44" name="TextBox 43"/>
          <p:cNvSpPr txBox="1"/>
          <p:nvPr/>
        </p:nvSpPr>
        <p:spPr>
          <a:xfrm>
            <a:off x="5186903" y="6242044"/>
            <a:ext cx="36595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Griffith, O. L. </a:t>
            </a:r>
            <a:r>
              <a:rPr lang="en-US" sz="1350" i="1" dirty="0"/>
              <a:t>et al.</a:t>
            </a:r>
            <a:r>
              <a:rPr lang="en-US" sz="1350" dirty="0"/>
              <a:t> </a:t>
            </a:r>
            <a:r>
              <a:rPr lang="en-US" sz="1350" i="1" dirty="0"/>
              <a:t>Phys Rev B</a:t>
            </a:r>
            <a:r>
              <a:rPr lang="en-US" sz="1350" dirty="0"/>
              <a:t> </a:t>
            </a:r>
            <a:r>
              <a:rPr lang="en-US" sz="1350" b="1" dirty="0"/>
              <a:t>92,</a:t>
            </a:r>
            <a:r>
              <a:rPr lang="en-US" sz="1350" dirty="0"/>
              <a:t> (2015).</a:t>
            </a:r>
          </a:p>
          <a:p>
            <a:endParaRPr lang="en-US" sz="135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671441" y="1647825"/>
            <a:ext cx="3761422" cy="2611566"/>
            <a:chOff x="5516118" y="2289810"/>
            <a:chExt cx="2061972" cy="1492063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5684520" y="2446020"/>
              <a:ext cx="1706880" cy="381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>
              <a:off x="5516118" y="2289810"/>
              <a:ext cx="2061972" cy="1492063"/>
              <a:chOff x="5516118" y="2289810"/>
              <a:chExt cx="2061972" cy="1492063"/>
            </a:xfrm>
          </p:grpSpPr>
          <p:cxnSp>
            <p:nvCxnSpPr>
              <p:cNvPr id="8" name="Straight Connector 7"/>
              <p:cNvCxnSpPr/>
              <p:nvPr/>
            </p:nvCxnSpPr>
            <p:spPr>
              <a:xfrm>
                <a:off x="5821680" y="2289810"/>
                <a:ext cx="0" cy="32897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/>
              <p:cNvGrpSpPr/>
              <p:nvPr/>
            </p:nvGrpSpPr>
            <p:grpSpPr>
              <a:xfrm>
                <a:off x="5516118" y="2544318"/>
                <a:ext cx="2061972" cy="1237555"/>
                <a:chOff x="5516118" y="2544318"/>
                <a:chExt cx="2061972" cy="1237555"/>
              </a:xfrm>
            </p:grpSpPr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6886" t="25117" r="13481"/>
                <a:stretch/>
              </p:blipFill>
              <p:spPr>
                <a:xfrm>
                  <a:off x="5543550" y="2647802"/>
                  <a:ext cx="2034540" cy="1134071"/>
                </a:xfrm>
                <a:prstGeom prst="rect">
                  <a:avLst/>
                </a:prstGeom>
              </p:spPr>
            </p:pic>
            <p:sp>
              <p:nvSpPr>
                <p:cNvPr id="4" name="Rounded Rectangle 3"/>
                <p:cNvSpPr/>
                <p:nvPr/>
              </p:nvSpPr>
              <p:spPr>
                <a:xfrm>
                  <a:off x="5516118" y="2544318"/>
                  <a:ext cx="1021842" cy="1237555"/>
                </a:xfrm>
                <a:prstGeom prst="roundRect">
                  <a:avLst/>
                </a:prstGeom>
                <a:solidFill>
                  <a:schemeClr val="accent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6560820" y="2661877"/>
                  <a:ext cx="419862" cy="788057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6915150" y="3038095"/>
                  <a:ext cx="662178" cy="701318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67716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Perform a calibration curve for DTDCPB under various applied electric fields</a:t>
            </a:r>
          </a:p>
          <a:p>
            <a:r>
              <a:rPr lang="en-US" dirty="0" smtClean="0"/>
              <a:t>Determine dependent parameters ( </a:t>
            </a:r>
            <a:r>
              <a:rPr lang="el-GR" dirty="0" smtClean="0"/>
              <a:t>Δα</a:t>
            </a:r>
            <a:r>
              <a:rPr lang="en-US" dirty="0" smtClean="0"/>
              <a:t> and </a:t>
            </a:r>
            <a:r>
              <a:rPr lang="el-GR" dirty="0" smtClean="0"/>
              <a:t>Δµ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Allows us to back out the electric field felt by the molecule during a transition</a:t>
            </a:r>
          </a:p>
          <a:p>
            <a:r>
              <a:rPr lang="en-US" dirty="0" smtClean="0"/>
              <a:t>Perform pump-probe spectroscopy in a DTDCPB:PCBM blend</a:t>
            </a:r>
          </a:p>
          <a:p>
            <a:pPr lvl="1"/>
            <a:r>
              <a:rPr lang="en-US" dirty="0" smtClean="0"/>
              <a:t>Electric fields created by charge-transfer states and free charges will be distinct</a:t>
            </a:r>
          </a:p>
          <a:p>
            <a:pPr lvl="1"/>
            <a:r>
              <a:rPr lang="en-US" dirty="0" smtClean="0"/>
              <a:t>This experiment allows for in-operando studies of these pathways</a:t>
            </a:r>
          </a:p>
          <a:p>
            <a:r>
              <a:rPr lang="en-US" dirty="0" smtClean="0"/>
              <a:t>Future studies hope to correlate the local dielectric constant of the material with the dominant pathway</a:t>
            </a:r>
            <a:endParaRPr lang="en-US" dirty="0"/>
          </a:p>
          <a:p>
            <a:r>
              <a:rPr lang="en-US" dirty="0" smtClean="0"/>
              <a:t>It is crucial to first understand DTDCPB’s response to electric fields in both the ground and excited state, before moving to complex  </a:t>
            </a:r>
            <a:r>
              <a:rPr lang="en-US" i="1" dirty="0" smtClean="0"/>
              <a:t>in operando</a:t>
            </a:r>
            <a:r>
              <a:rPr lang="en-US" dirty="0" smtClean="0"/>
              <a:t> studies. </a:t>
            </a:r>
          </a:p>
        </p:txBody>
      </p:sp>
    </p:spTree>
    <p:extLst>
      <p:ext uri="{BB962C8B-B14F-4D97-AF65-F5344CB8AC3E}">
        <p14:creationId xmlns:p14="http://schemas.microsoft.com/office/powerpoint/2010/main" val="1964601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Excited-State Pump-probe Vibrational Spectroscopy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68"/>
          <a:stretch/>
        </p:blipFill>
        <p:spPr>
          <a:xfrm>
            <a:off x="537992" y="1822557"/>
            <a:ext cx="8064841" cy="4340118"/>
          </a:xfrm>
        </p:spPr>
      </p:pic>
    </p:spTree>
    <p:extLst>
      <p:ext uri="{BB962C8B-B14F-4D97-AF65-F5344CB8AC3E}">
        <p14:creationId xmlns:p14="http://schemas.microsoft.com/office/powerpoint/2010/main" val="147796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Simulate the Experiments?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Simulating Spectra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275" y="1600200"/>
            <a:ext cx="8042276" cy="4914899"/>
          </a:xfrm>
        </p:spPr>
        <p:txBody>
          <a:bodyPr/>
          <a:lstStyle/>
          <a:p>
            <a:r>
              <a:rPr lang="en-US" dirty="0" smtClean="0"/>
              <a:t>Dipole moment </a:t>
            </a:r>
            <a:r>
              <a:rPr lang="en-US" dirty="0" smtClean="0"/>
              <a:t>calculation from MD:</a:t>
            </a:r>
            <a:endParaRPr lang="en-US" dirty="0" smtClean="0"/>
          </a:p>
          <a:p>
            <a:pPr lvl="1"/>
            <a:r>
              <a:rPr lang="en-US" dirty="0" err="1" smtClean="0"/>
              <a:t>Wannier</a:t>
            </a:r>
            <a:r>
              <a:rPr lang="en-US" dirty="0" smtClean="0"/>
              <a:t> function scheme</a:t>
            </a:r>
          </a:p>
          <a:p>
            <a:pPr lvl="1"/>
            <a:endParaRPr lang="en-US" dirty="0" smtClean="0"/>
          </a:p>
          <a:p>
            <a:r>
              <a:rPr lang="en-US" dirty="0" smtClean="0"/>
              <a:t>Velocity </a:t>
            </a:r>
            <a:r>
              <a:rPr lang="en-US" dirty="0" err="1" smtClean="0"/>
              <a:t>Verlet</a:t>
            </a:r>
            <a:r>
              <a:rPr lang="en-US" dirty="0" smtClean="0"/>
              <a:t> Algorithm 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Obtaining spectra in </a:t>
            </a:r>
            <a:r>
              <a:rPr lang="en-US" dirty="0" err="1" smtClean="0"/>
              <a:t>Postprocessing</a:t>
            </a:r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46" y="2528732"/>
            <a:ext cx="2797833" cy="53879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963" y="3613015"/>
            <a:ext cx="4152900" cy="5207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663" y="4250076"/>
            <a:ext cx="4140200" cy="5461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1934" y="5503122"/>
            <a:ext cx="3956957" cy="643408"/>
          </a:xfrm>
          <a:prstGeom prst="rect">
            <a:avLst/>
          </a:prstGeom>
        </p:spPr>
      </p:pic>
      <p:sp>
        <p:nvSpPr>
          <p:cNvPr id="10" name="Curved Left Arrow 9"/>
          <p:cNvSpPr/>
          <p:nvPr/>
        </p:nvSpPr>
        <p:spPr>
          <a:xfrm>
            <a:off x="6642090" y="2531153"/>
            <a:ext cx="834390" cy="3423877"/>
          </a:xfrm>
          <a:prstGeom prst="curvedLef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3959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Computational Method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041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Effect of an electric field on absorption or emission spectrum</a:t>
            </a:r>
          </a:p>
          <a:p>
            <a:r>
              <a:rPr lang="en-US" dirty="0" smtClean="0"/>
              <a:t>Change in dipole moment, </a:t>
            </a:r>
            <a:r>
              <a:rPr lang="en-US" dirty="0" err="1" smtClean="0"/>
              <a:t>Δμ</a:t>
            </a:r>
            <a:endParaRPr lang="en-US" dirty="0"/>
          </a:p>
          <a:p>
            <a:pPr lvl="1"/>
            <a:r>
              <a:rPr lang="en-US" dirty="0" smtClean="0"/>
              <a:t>Degree of charge separation for a transition</a:t>
            </a:r>
          </a:p>
          <a:p>
            <a:r>
              <a:rPr lang="en-US" dirty="0" smtClean="0"/>
              <a:t>Change in </a:t>
            </a:r>
            <a:r>
              <a:rPr lang="en-US" dirty="0" err="1" smtClean="0"/>
              <a:t>polarizability</a:t>
            </a:r>
            <a:r>
              <a:rPr lang="en-US" dirty="0" smtClean="0"/>
              <a:t>, </a:t>
            </a:r>
            <a:r>
              <a:rPr lang="en-US" dirty="0" err="1" smtClean="0"/>
              <a:t>Δ</a:t>
            </a:r>
            <a:r>
              <a:rPr lang="en-US" dirty="0" smtClean="0"/>
              <a:t>α</a:t>
            </a:r>
          </a:p>
          <a:p>
            <a:pPr lvl="1"/>
            <a:r>
              <a:rPr lang="en-US" dirty="0" smtClean="0"/>
              <a:t>Sensitivity of transition to the field</a:t>
            </a: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0" y="4734863"/>
            <a:ext cx="4560783" cy="7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40588"/>
            <a:ext cx="8042276" cy="768051"/>
          </a:xfrm>
        </p:spPr>
        <p:txBody>
          <a:bodyPr/>
          <a:lstStyle/>
          <a:p>
            <a:r>
              <a:rPr lang="en-US" dirty="0" smtClean="0"/>
              <a:t>Expected Effect on Spectra</a:t>
            </a:r>
            <a:endParaRPr lang="en-US" dirty="0"/>
          </a:p>
        </p:txBody>
      </p:sp>
      <p:pic>
        <p:nvPicPr>
          <p:cNvPr id="6" name="Picture 5" descr="Screen Shot 2016-05-25 at 11.53.55 PM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88"/>
          <a:stretch/>
        </p:blipFill>
        <p:spPr>
          <a:xfrm>
            <a:off x="549275" y="2013453"/>
            <a:ext cx="3892973" cy="3384592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607908" y="1901741"/>
            <a:ext cx="3983644" cy="3661971"/>
          </a:xfrm>
        </p:spPr>
        <p:txBody>
          <a:bodyPr>
            <a:normAutofit/>
          </a:bodyPr>
          <a:lstStyle/>
          <a:p>
            <a:r>
              <a:rPr lang="en-US" dirty="0" smtClean="0"/>
              <a:t>Linear Stark effect: line broadening </a:t>
            </a:r>
          </a:p>
          <a:p>
            <a:r>
              <a:rPr lang="en-US" dirty="0" smtClean="0"/>
              <a:t>Quadratic Stark effect: frequency shift</a:t>
            </a:r>
          </a:p>
          <a:p>
            <a:r>
              <a:rPr lang="en-US" dirty="0" smtClean="0"/>
              <a:t>Stark spectrum = “field on minus field off”</a:t>
            </a:r>
          </a:p>
          <a:p>
            <a:pPr lvl="1"/>
            <a:r>
              <a:rPr lang="en-US" dirty="0" smtClean="0"/>
              <a:t>Analyze this based on derivatives</a:t>
            </a:r>
          </a:p>
        </p:txBody>
      </p:sp>
    </p:spTree>
    <p:extLst>
      <p:ext uri="{BB962C8B-B14F-4D97-AF65-F5344CB8AC3E}">
        <p14:creationId xmlns:p14="http://schemas.microsoft.com/office/powerpoint/2010/main" val="254283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</a:t>
              </a:r>
              <a:r>
                <a:rPr lang="en-US" sz="1100" dirty="0" smtClean="0"/>
                <a:t>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4" name="Picture 3" descr="Screen Shot 2016-05-26 at 9.53.5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74" y="1529969"/>
            <a:ext cx="8158677" cy="1519973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549275" y="3586042"/>
            <a:ext cx="7761255" cy="2460871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Thermal sampling provides initial conditions for positions and velocities</a:t>
            </a:r>
          </a:p>
          <a:p>
            <a:r>
              <a:rPr lang="en-US" dirty="0" smtClean="0"/>
              <a:t>Each set of values can then be used as a staring point for the production of a trajectory in time</a:t>
            </a:r>
          </a:p>
        </p:txBody>
      </p:sp>
    </p:spTree>
    <p:extLst>
      <p:ext uri="{BB962C8B-B14F-4D97-AF65-F5344CB8AC3E}">
        <p14:creationId xmlns:p14="http://schemas.microsoft.com/office/powerpoint/2010/main" val="4210339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6" name="Content Placeholder 5" descr="sped_CN_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16" b="6816"/>
          <a:stretch>
            <a:fillRect/>
          </a:stretch>
        </p:blipFill>
        <p:spPr>
          <a:xfrm>
            <a:off x="549275" y="1081215"/>
            <a:ext cx="4154384" cy="2243662"/>
          </a:xfrm>
        </p:spPr>
      </p:pic>
      <p:pic>
        <p:nvPicPr>
          <p:cNvPr id="7" name="Picture 6" descr="Screen Shot 2016-05-26 at 9.50.26 A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44"/>
          <a:stretch/>
        </p:blipFill>
        <p:spPr>
          <a:xfrm>
            <a:off x="549275" y="3457119"/>
            <a:ext cx="4154384" cy="3155830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828785" y="1081216"/>
            <a:ext cx="4116770" cy="5531734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Results for one trajectory: molecular vibration in a diatomic</a:t>
            </a:r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838</TotalTime>
  <Words>580</Words>
  <Application>Microsoft Macintosh PowerPoint</Application>
  <PresentationFormat>On-screen Show (4:3)</PresentationFormat>
  <Paragraphs>94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News Gothic MT</vt:lpstr>
      <vt:lpstr>Wingdings 2</vt:lpstr>
      <vt:lpstr>Breeze</vt:lpstr>
      <vt:lpstr> Computational Modeling of the Stark Effect in IR Chromophores</vt:lpstr>
      <vt:lpstr>DTDCPB – What is it?</vt:lpstr>
      <vt:lpstr>DTDCPB: A promising push-pull chromophore</vt:lpstr>
      <vt:lpstr>Experimental Plan</vt:lpstr>
      <vt:lpstr>Excited-State Pump-probe Vibrational Spectroscopy</vt:lpstr>
      <vt:lpstr>Experimental Perspective</vt:lpstr>
      <vt:lpstr>Why Simulate the Experiments?</vt:lpstr>
      <vt:lpstr>Simulating Spectra</vt:lpstr>
      <vt:lpstr>Computational Method</vt:lpstr>
      <vt:lpstr>Stark Effect Introduction</vt:lpstr>
      <vt:lpstr>Expected Effect on Spectra</vt:lpstr>
      <vt:lpstr>Stark Effect Test Case: Cyanide</vt:lpstr>
      <vt:lpstr>Tentative DTDCPB Stark Effect Results</vt:lpstr>
      <vt:lpstr>BOMD Introduction</vt:lpstr>
      <vt:lpstr>BOMD Flowchart</vt:lpstr>
      <vt:lpstr>BOMD Test Case: Cyanide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15.0022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JOSEPH J. RADLER</cp:lastModifiedBy>
  <cp:revision>27</cp:revision>
  <dcterms:created xsi:type="dcterms:W3CDTF">2016-05-25T21:57:00Z</dcterms:created>
  <dcterms:modified xsi:type="dcterms:W3CDTF">2016-05-26T20:31:17Z</dcterms:modified>
</cp:coreProperties>
</file>