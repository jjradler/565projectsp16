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rels" ContentType="application/vnd.openxmlformats-package.relationships+xml"/>
  <Default Extension="emf" ContentType="image/x-emf"/>
  <Default Extension="gif" ContentType="image/gif"/>
  <Default Extension="bin" ContentType="application/vnd.openxmlformats-officedocument.presentationml.printerSettings"/>
  <Default Extension="png" ContentType="image/p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9" r:id="rId7"/>
    <p:sldId id="261" r:id="rId8"/>
    <p:sldId id="262" r:id="rId9"/>
    <p:sldId id="263" r:id="rId10"/>
    <p:sldId id="264" r:id="rId11"/>
    <p:sldId id="270" r:id="rId12"/>
    <p:sldId id="265" r:id="rId13"/>
    <p:sldId id="266" r:id="rId14"/>
    <p:sldId id="267" r:id="rId15"/>
    <p:sldId id="268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 xmlns="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xmlns="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702"/>
    <p:restoredTop sz="94628"/>
  </p:normalViewPr>
  <p:slideViewPr>
    <p:cSldViewPr snapToGrid="0" snapToObjects="1">
      <p:cViewPr varScale="1">
        <p:scale>
          <a:sx n="92" d="100"/>
          <a:sy n="92" d="100"/>
        </p:scale>
        <p:origin x="-147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8.xml"/><Relationship Id="rId20" Type="http://schemas.openxmlformats.org/officeDocument/2006/relationships/theme" Target="theme/theme1.xml"/><Relationship Id="rId21" Type="http://schemas.openxmlformats.org/officeDocument/2006/relationships/tableStyles" Target="tableStyles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printerSettings" Target="printerSettings/printerSettings1.bin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328166" y="1295400"/>
            <a:ext cx="6487668" cy="3152887"/>
          </a:xfrm>
          <a:prstGeom prst="rect">
            <a:avLst/>
          </a:prstGeom>
          <a:ln w="3175">
            <a:solidFill>
              <a:schemeClr val="bg1"/>
            </a:solidFill>
          </a:ln>
          <a:effectLst>
            <a:outerShdw blurRad="63500" sx="100500" sy="100500" algn="ctr" rotWithShape="0">
              <a:prstClr val="black">
                <a:alpha val="50000"/>
              </a:prstClr>
            </a:outerShdw>
          </a:effectLst>
        </p:spPr>
        <p:txBody>
          <a:bodyPr vert="horz" lIns="91440" tIns="45720" rIns="91440" bIns="45720" rtlCol="0">
            <a:normAutofit/>
          </a:bodyPr>
          <a:lstStyle/>
          <a:p>
            <a:pPr marL="0" indent="0" algn="l" defTabSz="914400" rtl="0" eaLnBrk="1" latinLnBrk="0" hangingPunct="1">
              <a:spcBef>
                <a:spcPts val="2000"/>
              </a:spcBef>
              <a:buClr>
                <a:schemeClr val="accent1">
                  <a:lumMod val="60000"/>
                  <a:lumOff val="40000"/>
                </a:schemeClr>
              </a:buClr>
              <a:buSzPct val="110000"/>
              <a:buFont typeface="Wingdings 2" pitchFamily="18" charset="2"/>
              <a:buNone/>
            </a:pPr>
            <a:endParaRPr sz="3200" kern="120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22921" y="1523999"/>
            <a:ext cx="6498158" cy="1724867"/>
          </a:xfrm>
        </p:spPr>
        <p:txBody>
          <a:bodyPr vert="horz" lIns="91440" tIns="45720" rIns="91440" bIns="45720" rtlCol="0" anchor="b" anchorCtr="0">
            <a:noAutofit/>
          </a:bodyPr>
          <a:lstStyle>
            <a:lvl1pPr marL="0" indent="0" algn="ctr" defTabSz="914400" rtl="0" eaLnBrk="1" latinLnBrk="0" hangingPunct="1">
              <a:spcBef>
                <a:spcPct val="0"/>
              </a:spcBef>
              <a:buClr>
                <a:schemeClr val="accent1">
                  <a:lumMod val="60000"/>
                  <a:lumOff val="40000"/>
                </a:schemeClr>
              </a:buClr>
              <a:buSzPct val="110000"/>
              <a:buFont typeface="Wingdings 2" pitchFamily="18" charset="2"/>
              <a:buNone/>
              <a:defRPr sz="4600" kern="120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mtClean="0"/>
              <a:t>Click to edit Master title style</a:t>
            </a:r>
            <a:endParaRPr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22921" y="3299012"/>
            <a:ext cx="6498159" cy="916641"/>
          </a:xfr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spcBef>
                <a:spcPts val="300"/>
              </a:spcBef>
              <a:buClr>
                <a:schemeClr val="accent1">
                  <a:lumMod val="60000"/>
                  <a:lumOff val="40000"/>
                </a:schemeClr>
              </a:buClr>
              <a:buSzPct val="110000"/>
              <a:buFont typeface="Wingdings 2" pitchFamily="18" charset="2"/>
              <a:buNone/>
              <a:defRPr sz="1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538935-E887-7942-8C81-098190EB1550}" type="datetimeFigureOut">
              <a:rPr lang="en-US" smtClean="0"/>
              <a:t>5/25/16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882801-CF67-6B48-92B6-338B68F42B02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5pPr>
              <a:defRPr/>
            </a:lvl5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538935-E887-7942-8C81-098190EB1550}" type="datetimeFigureOut">
              <a:rPr lang="en-US" smtClean="0"/>
              <a:t>5/25/16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882801-CF67-6B48-92B6-338B68F42B02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63538" y="3352801"/>
            <a:ext cx="8416925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63538" y="4771029"/>
            <a:ext cx="8416925" cy="972671"/>
          </a:xfrm>
        </p:spPr>
        <p:txBody>
          <a:bodyPr>
            <a:normAutofit/>
          </a:bodyPr>
          <a:lstStyle>
            <a:lvl1pPr marL="0" indent="0" algn="ctr">
              <a:spcBef>
                <a:spcPts val="300"/>
              </a:spcBef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538935-E887-7942-8C81-098190EB1550}" type="datetimeFigureOut">
              <a:rPr lang="en-US" smtClean="0"/>
              <a:t>5/25/16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882801-CF67-6B48-92B6-338B68F42B02}" type="slidenum">
              <a:rPr lang="en-US" smtClean="0"/>
              <a:t>‹#›</a:t>
            </a:fld>
            <a:endParaRPr lang="en-US"/>
          </a:p>
        </p:txBody>
      </p:sp>
      <p:sp>
        <p:nvSpPr>
          <p:cNvPr id="9" name="Picture Placeholder 2"/>
          <p:cNvSpPr>
            <a:spLocks noGrp="1"/>
          </p:cNvSpPr>
          <p:nvPr>
            <p:ph type="pic" idx="13"/>
          </p:nvPr>
        </p:nvSpPr>
        <p:spPr>
          <a:xfrm>
            <a:off x="370980" y="363538"/>
            <a:ext cx="8402040" cy="2836862"/>
          </a:xfrm>
          <a:ln w="3175">
            <a:solidFill>
              <a:schemeClr val="bg1"/>
            </a:solidFill>
          </a:ln>
          <a:effectLst>
            <a:outerShdw blurRad="63500" sx="100500" sy="100500" algn="ctr" rotWithShape="0">
              <a:prstClr val="black">
                <a:alpha val="50000"/>
              </a:prstClr>
            </a:outerShdw>
          </a:effectLst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smtClean="0"/>
              <a:t>Drag picture to placeholder or click icon to add</a:t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9275" y="2403144"/>
            <a:ext cx="8056563" cy="1362075"/>
          </a:xfrm>
        </p:spPr>
        <p:txBody>
          <a:bodyPr anchor="b" anchorCtr="0"/>
          <a:lstStyle>
            <a:lvl1pPr algn="ctr">
              <a:defRPr sz="4600" b="0" cap="none" baseline="0"/>
            </a:lvl1pPr>
          </a:lstStyle>
          <a:p>
            <a:r>
              <a:rPr lang="en-US" smtClean="0"/>
              <a:t>Click to edit Master title style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9275" y="3736005"/>
            <a:ext cx="8056563" cy="1500187"/>
          </a:xfrm>
        </p:spPr>
        <p:txBody>
          <a:bodyPr anchor="t" anchorCtr="0">
            <a:normAutofit/>
          </a:bodyPr>
          <a:lstStyle>
            <a:lvl1pPr marL="0" indent="0" algn="ctr">
              <a:spcBef>
                <a:spcPts val="300"/>
              </a:spcBef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538935-E887-7942-8C81-098190EB1550}" type="datetimeFigureOut">
              <a:rPr lang="en-US" smtClean="0"/>
              <a:t>5/25/16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882801-CF67-6B48-92B6-338B68F42B02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9275" y="107576"/>
            <a:ext cx="8042276" cy="1336956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49275" y="1600201"/>
            <a:ext cx="3840480" cy="4343400"/>
          </a:xfrm>
        </p:spPr>
        <p:txBody>
          <a:bodyPr>
            <a:normAutofit/>
          </a:bodyPr>
          <a:lstStyle>
            <a:lvl1pPr>
              <a:spcBef>
                <a:spcPts val="1600"/>
              </a:spcBef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51071" y="1600201"/>
            <a:ext cx="3840480" cy="4343400"/>
          </a:xfrm>
        </p:spPr>
        <p:txBody>
          <a:bodyPr>
            <a:normAutofit/>
          </a:bodyPr>
          <a:lstStyle>
            <a:lvl1pPr>
              <a:spcBef>
                <a:spcPts val="1600"/>
              </a:spcBef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538935-E887-7942-8C81-098190EB1550}" type="datetimeFigureOut">
              <a:rPr lang="en-US" smtClean="0"/>
              <a:t>5/25/16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882801-CF67-6B48-92B6-338B68F42B02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9274" y="107576"/>
            <a:ext cx="8042276" cy="1336956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9274" y="1453224"/>
            <a:ext cx="3840480" cy="750887"/>
          </a:xfrm>
        </p:spPr>
        <p:txBody>
          <a:bodyPr anchor="b">
            <a:noAutofit/>
          </a:bodyPr>
          <a:lstStyle>
            <a:lvl1pPr marL="0" indent="0" algn="ctr">
              <a:spcBef>
                <a:spcPts val="0"/>
              </a:spcBef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49274" y="2347415"/>
            <a:ext cx="3840480" cy="3596185"/>
          </a:xfrm>
        </p:spPr>
        <p:txBody>
          <a:bodyPr>
            <a:normAutofit/>
          </a:bodyPr>
          <a:lstStyle>
            <a:lvl1pPr>
              <a:spcBef>
                <a:spcPts val="1600"/>
              </a:spcBef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1070" y="1453224"/>
            <a:ext cx="3840480" cy="750887"/>
          </a:xfrm>
        </p:spPr>
        <p:txBody>
          <a:bodyPr anchor="b">
            <a:noAutofit/>
          </a:bodyPr>
          <a:lstStyle>
            <a:lvl1pPr marL="0" indent="0" algn="ctr">
              <a:spcBef>
                <a:spcPts val="0"/>
              </a:spcBef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1070" y="2347415"/>
            <a:ext cx="3840480" cy="3596185"/>
          </a:xfrm>
        </p:spPr>
        <p:txBody>
          <a:bodyPr>
            <a:normAutofit/>
          </a:bodyPr>
          <a:lstStyle>
            <a:lvl1pPr>
              <a:spcBef>
                <a:spcPts val="1600"/>
              </a:spcBef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538935-E887-7942-8C81-098190EB1550}" type="datetimeFigureOut">
              <a:rPr lang="en-US" smtClean="0"/>
              <a:t>5/25/16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882801-CF67-6B48-92B6-338B68F42B02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538935-E887-7942-8C81-098190EB1550}" type="datetimeFigureOut">
              <a:rPr lang="en-US" smtClean="0"/>
              <a:t>5/25/16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882801-CF67-6B48-92B6-338B68F42B02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538935-E887-7942-8C81-098190EB1550}" type="datetimeFigureOut">
              <a:rPr lang="en-US" smtClean="0"/>
              <a:t>5/25/16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882801-CF67-6B48-92B6-338B68F42B02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3399" y="611872"/>
            <a:ext cx="3840480" cy="1162050"/>
          </a:xfrm>
        </p:spPr>
        <p:txBody>
          <a:bodyPr anchor="b"/>
          <a:lstStyle>
            <a:lvl1pPr algn="ctr">
              <a:defRPr sz="3600" b="0"/>
            </a:lvl1pPr>
          </a:lstStyle>
          <a:p>
            <a:r>
              <a:rPr lang="en-US" smtClean="0"/>
              <a:t>Click to edit Master title style</a:t>
            </a:r>
            <a:endParaRPr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42824" y="368300"/>
            <a:ext cx="3840480" cy="5575300"/>
          </a:xfrm>
        </p:spPr>
        <p:txBody>
          <a:bodyPr>
            <a:normAutofit/>
          </a:bodyPr>
          <a:lstStyle>
            <a:lvl1pPr>
              <a:spcBef>
                <a:spcPts val="2000"/>
              </a:spcBef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33399" y="1787856"/>
            <a:ext cx="3840480" cy="3720152"/>
          </a:xfrm>
        </p:spPr>
        <p:txBody>
          <a:bodyPr>
            <a:normAutofit/>
          </a:bodyPr>
          <a:lstStyle>
            <a:lvl1pPr marL="0" indent="0" algn="ctr">
              <a:spcBef>
                <a:spcPts val="600"/>
              </a:spcBef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538935-E887-7942-8C81-098190EB1550}" type="datetimeFigureOut">
              <a:rPr lang="en-US" smtClean="0"/>
              <a:t>5/25/16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882801-CF67-6B48-92B6-338B68F42B02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3398" y="611872"/>
            <a:ext cx="4079545" cy="1162050"/>
          </a:xfrm>
        </p:spPr>
        <p:txBody>
          <a:bodyPr anchor="b"/>
          <a:lstStyle>
            <a:lvl1pPr algn="ctr">
              <a:defRPr sz="3600" b="0"/>
            </a:lvl1pPr>
          </a:lstStyle>
          <a:p>
            <a:r>
              <a:rPr lang="en-US" smtClean="0"/>
              <a:t>Click to edit Master title style</a:t>
            </a:r>
            <a:endParaRPr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33398" y="1787856"/>
            <a:ext cx="4079545" cy="3720152"/>
          </a:xfrm>
        </p:spPr>
        <p:txBody>
          <a:bodyPr>
            <a:normAutofit/>
          </a:bodyPr>
          <a:lstStyle>
            <a:lvl1pPr marL="0" indent="0" algn="ctr">
              <a:spcBef>
                <a:spcPts val="600"/>
              </a:spcBef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538935-E887-7942-8C81-098190EB1550}" type="datetimeFigureOut">
              <a:rPr lang="en-US" smtClean="0"/>
              <a:t>5/25/16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882801-CF67-6B48-92B6-338B68F42B02}" type="slidenum">
              <a:rPr lang="en-US" smtClean="0"/>
              <a:t>‹#›</a:t>
            </a:fld>
            <a:endParaRPr lang="en-US"/>
          </a:p>
        </p:txBody>
      </p:sp>
      <p:sp>
        <p:nvSpPr>
          <p:cNvPr id="8" name="Picture Placeholder 2"/>
          <p:cNvSpPr>
            <a:spLocks noGrp="1"/>
          </p:cNvSpPr>
          <p:nvPr>
            <p:ph type="pic" idx="1"/>
          </p:nvPr>
        </p:nvSpPr>
        <p:spPr>
          <a:xfrm>
            <a:off x="5090617" y="359392"/>
            <a:ext cx="3657600" cy="5318077"/>
          </a:xfrm>
          <a:ln w="3175">
            <a:solidFill>
              <a:schemeClr val="bg1"/>
            </a:solidFill>
          </a:ln>
          <a:effectLst>
            <a:outerShdw blurRad="63500" sx="100500" sy="100500" algn="ctr" rotWithShape="0">
              <a:prstClr val="black">
                <a:alpha val="50000"/>
              </a:prstClr>
            </a:outerShdw>
          </a:effectLst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spcBef>
                <a:spcPts val="2000"/>
              </a:spcBef>
              <a:buClr>
                <a:schemeClr val="accent1">
                  <a:lumMod val="60000"/>
                  <a:lumOff val="40000"/>
                </a:schemeClr>
              </a:buClr>
              <a:buSzPct val="110000"/>
              <a:buFont typeface="Wingdings 2" pitchFamily="18" charset="2"/>
              <a:buNone/>
              <a:defRPr sz="32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smtClean="0"/>
              <a:t>Drag picture to placeholder or click icon to add</a:t>
            </a:r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>
            <a:lvl5pPr>
              <a:defRPr/>
            </a:lvl5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538935-E887-7942-8C81-098190EB1550}" type="datetimeFigureOut">
              <a:rPr lang="en-US" smtClean="0"/>
              <a:t>5/25/16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882801-CF67-6B48-92B6-338B68F42B02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369792" y="368301"/>
            <a:ext cx="1524000" cy="5575300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49274" y="368301"/>
            <a:ext cx="6689726" cy="5575300"/>
          </a:xfrm>
        </p:spPr>
        <p:txBody>
          <a:bodyPr vert="eaVert"/>
          <a:lstStyle>
            <a:lvl5pPr>
              <a:defRPr/>
            </a:lvl5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538935-E887-7942-8C81-098190EB1550}" type="datetimeFigureOut">
              <a:rPr lang="en-US" smtClean="0"/>
              <a:t>5/25/16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882801-CF67-6B48-92B6-338B68F42B02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49275" y="107576"/>
            <a:ext cx="8042276" cy="1336956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en-US" smtClean="0"/>
              <a:t>Click to edit Master title style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9275" y="1600201"/>
            <a:ext cx="8042276" cy="43434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629835" y="6275668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fld id="{57538935-E887-7942-8C81-098190EB1550}" type="datetimeFigureOut">
              <a:rPr lang="en-US" smtClean="0"/>
              <a:t>5/25/16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64458" y="6275668"/>
            <a:ext cx="484094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bg1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897906" y="6275668"/>
            <a:ext cx="990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3600">
                <a:solidFill>
                  <a:schemeClr val="bg1"/>
                </a:solidFill>
              </a:defRPr>
            </a:lvl1pPr>
          </a:lstStyle>
          <a:p>
            <a:fld id="{01882801-CF67-6B48-92B6-338B68F42B02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txStyles>
    <p:titleStyle>
      <a:lvl1pPr algn="ctr" defTabSz="914400" rtl="0" eaLnBrk="1" latinLnBrk="0" hangingPunct="1">
        <a:spcBef>
          <a:spcPct val="0"/>
        </a:spcBef>
        <a:buNone/>
        <a:defRPr sz="4600" kern="1200"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349250" indent="-349250" algn="l" defTabSz="914400" rtl="0" eaLnBrk="1" latinLnBrk="0" hangingPunct="1">
        <a:spcBef>
          <a:spcPts val="2000"/>
        </a:spcBef>
        <a:buClr>
          <a:schemeClr val="accent1">
            <a:lumMod val="60000"/>
            <a:lumOff val="40000"/>
          </a:schemeClr>
        </a:buClr>
        <a:buSzPct val="110000"/>
        <a:buFont typeface="Wingdings 2" pitchFamily="18" charset="2"/>
        <a:buChar char=""/>
        <a:defRPr sz="2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1pPr>
      <a:lvl2pPr marL="685800" indent="-336550" algn="l" defTabSz="914400" rtl="0" eaLnBrk="1" latinLnBrk="0" hangingPunct="1">
        <a:spcBef>
          <a:spcPts val="600"/>
        </a:spcBef>
        <a:buClr>
          <a:schemeClr val="accent1">
            <a:lumMod val="75000"/>
          </a:schemeClr>
        </a:buClr>
        <a:buSzPct val="110000"/>
        <a:buFont typeface="Wingdings 2" pitchFamily="18" charset="2"/>
        <a:buChar char=""/>
        <a:defRPr sz="22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2pPr>
      <a:lvl3pPr marL="968375" indent="-282575" algn="l" defTabSz="914400" rtl="0" eaLnBrk="1" latinLnBrk="0" hangingPunct="1">
        <a:spcBef>
          <a:spcPts val="600"/>
        </a:spcBef>
        <a:buClr>
          <a:schemeClr val="accent1">
            <a:lumMod val="60000"/>
            <a:lumOff val="40000"/>
          </a:schemeClr>
        </a:buClr>
        <a:buSzPct val="110000"/>
        <a:buFont typeface="Wingdings 2" pitchFamily="18" charset="2"/>
        <a:buChar char=""/>
        <a:defRPr sz="20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3pPr>
      <a:lvl4pPr marL="1263650" indent="-295275" algn="l" defTabSz="914400" rtl="0" eaLnBrk="1" latinLnBrk="0" hangingPunct="1">
        <a:spcBef>
          <a:spcPts val="600"/>
        </a:spcBef>
        <a:buClr>
          <a:schemeClr val="accent1">
            <a:lumMod val="75000"/>
          </a:schemeClr>
        </a:buClr>
        <a:buSzPct val="110000"/>
        <a:buFont typeface="Wingdings 2" pitchFamily="18" charset="2"/>
        <a:buChar char=""/>
        <a:defRPr sz="18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4pPr>
      <a:lvl5pPr marL="1546225" indent="-282575" algn="l" defTabSz="914400" rtl="0" eaLnBrk="1" latinLnBrk="0" hangingPunct="1">
        <a:spcBef>
          <a:spcPts val="600"/>
        </a:spcBef>
        <a:buClr>
          <a:schemeClr val="accent1">
            <a:lumMod val="60000"/>
            <a:lumOff val="40000"/>
          </a:schemeClr>
        </a:buClr>
        <a:buSzPct val="110000"/>
        <a:buFont typeface="Wingdings 2" pitchFamily="18" charset="2"/>
        <a:buChar char=""/>
        <a:defRPr sz="18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5pPr>
      <a:lvl6pPr marL="1828800" indent="-282575" algn="l" defTabSz="914400" rtl="0" eaLnBrk="1" latinLnBrk="0" hangingPunct="1">
        <a:spcBef>
          <a:spcPct val="20000"/>
        </a:spcBef>
        <a:buClr>
          <a:schemeClr val="accent2"/>
        </a:buClr>
        <a:buSzPct val="110000"/>
        <a:buFont typeface="Wingdings 2" pitchFamily="18" charset="2"/>
        <a:buChar char=""/>
        <a:defRPr lang="en-US" sz="1800" kern="1200" dirty="0" smtClean="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6pPr>
      <a:lvl7pPr marL="2117725" indent="-282575" algn="l" defTabSz="914400" rtl="0" eaLnBrk="1" latinLnBrk="0" hangingPunct="1">
        <a:spcBef>
          <a:spcPct val="20000"/>
        </a:spcBef>
        <a:buClr>
          <a:schemeClr val="accent1">
            <a:lumMod val="60000"/>
            <a:lumOff val="40000"/>
          </a:schemeClr>
        </a:buClr>
        <a:buSzPct val="110000"/>
        <a:buFont typeface="Wingdings 2" pitchFamily="18" charset="2"/>
        <a:buChar char=""/>
        <a:defRPr lang="en-US" sz="1800" kern="1200" dirty="0" smtClean="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7pPr>
      <a:lvl8pPr marL="2398713" indent="-282575" algn="l" defTabSz="914400" rtl="0" eaLnBrk="1" latinLnBrk="0" hangingPunct="1">
        <a:spcBef>
          <a:spcPct val="20000"/>
        </a:spcBef>
        <a:buClr>
          <a:schemeClr val="accent2"/>
        </a:buClr>
        <a:buSzPct val="110000"/>
        <a:buFont typeface="Wingdings 2" pitchFamily="18" charset="2"/>
        <a:buChar char=""/>
        <a:defRPr lang="en-US" sz="1800" kern="1200" dirty="0" smtClean="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8pPr>
      <a:lvl9pPr marL="2689225" indent="-282575" algn="l" defTabSz="914400" rtl="0" eaLnBrk="1" latinLnBrk="0" hangingPunct="1">
        <a:spcBef>
          <a:spcPct val="20000"/>
        </a:spcBef>
        <a:buClr>
          <a:schemeClr val="accent1">
            <a:lumMod val="60000"/>
            <a:lumOff val="40000"/>
          </a:schemeClr>
        </a:buClr>
        <a:buSzPct val="110000"/>
        <a:buFont typeface="Wingdings 2" pitchFamily="18" charset="2"/>
        <a:buChar char=""/>
        <a:defRPr lang="en-US" sz="1800" kern="1200" dirty="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emf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gif"/><Relationship Id="rId3" Type="http://schemas.openxmlformats.org/officeDocument/2006/relationships/image" Target="../media/image6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22921" y="1561355"/>
            <a:ext cx="6498158" cy="1724867"/>
          </a:xfrm>
        </p:spPr>
        <p:txBody>
          <a:bodyPr/>
          <a:lstStyle/>
          <a:p>
            <a:r>
              <a:rPr lang="en-US" sz="4000" dirty="0" smtClean="0"/>
              <a:t>CHEM 565:</a:t>
            </a:r>
            <a:br>
              <a:rPr lang="en-US" sz="4000" dirty="0" smtClean="0"/>
            </a:br>
            <a:r>
              <a:rPr lang="en-US" sz="4000" dirty="0" smtClean="0"/>
              <a:t>Looking at Stark Effect and BOMD in DTDCPB</a:t>
            </a:r>
            <a:endParaRPr lang="en-US" sz="4000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 smtClean="0"/>
              <a:t>Camille </a:t>
            </a:r>
            <a:r>
              <a:rPr lang="en-US" dirty="0" err="1" smtClean="0"/>
              <a:t>Houferak</a:t>
            </a:r>
            <a:endParaRPr lang="en-US" dirty="0" smtClean="0"/>
          </a:p>
          <a:p>
            <a:r>
              <a:rPr lang="en-US" dirty="0" smtClean="0"/>
              <a:t>Emily </a:t>
            </a:r>
            <a:r>
              <a:rPr lang="en-US" dirty="0" err="1" smtClean="0"/>
              <a:t>Rabe</a:t>
            </a:r>
            <a:endParaRPr lang="en-US" dirty="0" smtClean="0"/>
          </a:p>
          <a:p>
            <a:r>
              <a:rPr lang="en-US" dirty="0" smtClean="0"/>
              <a:t>Joseph J. </a:t>
            </a:r>
            <a:r>
              <a:rPr lang="en-US" dirty="0" err="1" smtClean="0"/>
              <a:t>Radler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52880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000" dirty="0" smtClean="0"/>
              <a:t>DTDCPB – What is it used for?</a:t>
            </a:r>
            <a:endParaRPr lang="en-US" sz="40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Emily will write slides </a:t>
            </a:r>
            <a:r>
              <a:rPr lang="en-US" smtClean="0"/>
              <a:t>for this part!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0575369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Experimental Perspective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655454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Experiment/Computation Combined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212033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Stark Effect Introduction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Effect of an electric field on absorption or emission spectrum</a:t>
            </a:r>
          </a:p>
          <a:p>
            <a:r>
              <a:rPr lang="en-US" dirty="0" smtClean="0"/>
              <a:t>Change in dipole moment, </a:t>
            </a:r>
            <a:r>
              <a:rPr lang="en-US" dirty="0" err="1" smtClean="0"/>
              <a:t>Δμ</a:t>
            </a:r>
            <a:endParaRPr lang="en-US" dirty="0"/>
          </a:p>
          <a:p>
            <a:pPr lvl="1"/>
            <a:r>
              <a:rPr lang="en-US" dirty="0" smtClean="0"/>
              <a:t>Degree of charge separation for a transition</a:t>
            </a:r>
          </a:p>
          <a:p>
            <a:r>
              <a:rPr lang="en-US" dirty="0" smtClean="0"/>
              <a:t>Change in </a:t>
            </a:r>
            <a:r>
              <a:rPr lang="en-US" dirty="0" err="1" smtClean="0"/>
              <a:t>polarizability</a:t>
            </a:r>
            <a:r>
              <a:rPr lang="en-US" dirty="0" smtClean="0"/>
              <a:t>, </a:t>
            </a:r>
            <a:r>
              <a:rPr lang="en-US" dirty="0" err="1" smtClean="0"/>
              <a:t>Δ</a:t>
            </a:r>
            <a:r>
              <a:rPr lang="en-US" dirty="0" smtClean="0"/>
              <a:t>α</a:t>
            </a:r>
          </a:p>
          <a:p>
            <a:pPr lvl="1"/>
            <a:r>
              <a:rPr lang="en-US" dirty="0" smtClean="0"/>
              <a:t>Sensitivity of transition to the field</a:t>
            </a:r>
          </a:p>
        </p:txBody>
      </p:sp>
      <p:pic>
        <p:nvPicPr>
          <p:cNvPr id="4" name="Picture 3" descr="latex-image-1.pdf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25950" y="4734863"/>
            <a:ext cx="4560783" cy="7687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8418337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9275" y="140588"/>
            <a:ext cx="8042276" cy="768051"/>
          </a:xfrm>
        </p:spPr>
        <p:txBody>
          <a:bodyPr/>
          <a:lstStyle/>
          <a:p>
            <a:r>
              <a:rPr lang="en-US" dirty="0" smtClean="0"/>
              <a:t>Expected Effect on Spectra</a:t>
            </a:r>
            <a:endParaRPr lang="en-US" dirty="0"/>
          </a:p>
        </p:txBody>
      </p:sp>
      <p:pic>
        <p:nvPicPr>
          <p:cNvPr id="6" name="Picture 5" descr="Screen Shot 2016-05-25 at 11.53.55 PM.png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8388"/>
          <a:stretch/>
        </p:blipFill>
        <p:spPr>
          <a:xfrm>
            <a:off x="549275" y="2013453"/>
            <a:ext cx="3892973" cy="3384592"/>
          </a:xfrm>
          <a:prstGeom prst="rect">
            <a:avLst/>
          </a:prstGeom>
        </p:spPr>
      </p:pic>
      <p:sp>
        <p:nvSpPr>
          <p:cNvPr id="8" name="Content Placeholder 2"/>
          <p:cNvSpPr>
            <a:spLocks noGrp="1"/>
          </p:cNvSpPr>
          <p:nvPr>
            <p:ph idx="1"/>
          </p:nvPr>
        </p:nvSpPr>
        <p:spPr>
          <a:xfrm>
            <a:off x="4607908" y="1901741"/>
            <a:ext cx="3983644" cy="3661971"/>
          </a:xfrm>
        </p:spPr>
        <p:txBody>
          <a:bodyPr>
            <a:normAutofit/>
          </a:bodyPr>
          <a:lstStyle/>
          <a:p>
            <a:r>
              <a:rPr lang="en-US" dirty="0" smtClean="0"/>
              <a:t>Linear Stark effect: line broadening </a:t>
            </a:r>
          </a:p>
          <a:p>
            <a:r>
              <a:rPr lang="en-US" dirty="0" smtClean="0"/>
              <a:t>Quadratic Stark effect: frequency shift</a:t>
            </a:r>
          </a:p>
          <a:p>
            <a:r>
              <a:rPr lang="en-US" dirty="0" smtClean="0"/>
              <a:t>Stark spectrum = “field on minus field off”</a:t>
            </a:r>
          </a:p>
          <a:p>
            <a:pPr lvl="1"/>
            <a:r>
              <a:rPr lang="en-US" dirty="0" smtClean="0"/>
              <a:t>Analyze this based on derivatives</a:t>
            </a:r>
          </a:p>
        </p:txBody>
      </p:sp>
    </p:spTree>
    <p:extLst>
      <p:ext uri="{BB962C8B-B14F-4D97-AF65-F5344CB8AC3E}">
        <p14:creationId xmlns:p14="http://schemas.microsoft.com/office/powerpoint/2010/main" val="2542832521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Stark Effect Test Case: Cyanide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0399830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Tentative DTDCPB Stark Effect Results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612853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BOMD Introduction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 smtClean="0"/>
              <a:t>I’mma</a:t>
            </a:r>
            <a:r>
              <a:rPr lang="en-US" dirty="0" smtClean="0"/>
              <a:t> put the process in broad strokes for BOMD set up and job submission in Gaussian here</a:t>
            </a:r>
            <a:r>
              <a:rPr lang="is-IS" dirty="0" smtClean="0"/>
              <a:t>… sometime... (Jay)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85320808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BOMD Flowchart</a:t>
            </a:r>
            <a:endParaRPr lang="en-US" dirty="0"/>
          </a:p>
        </p:txBody>
      </p:sp>
      <p:grpSp>
        <p:nvGrpSpPr>
          <p:cNvPr id="4" name="Group 3"/>
          <p:cNvGrpSpPr/>
          <p:nvPr/>
        </p:nvGrpSpPr>
        <p:grpSpPr>
          <a:xfrm>
            <a:off x="181424" y="1444532"/>
            <a:ext cx="8603309" cy="4933671"/>
            <a:chOff x="844637" y="787226"/>
            <a:chExt cx="10427267" cy="5671191"/>
          </a:xfrm>
        </p:grpSpPr>
        <p:sp>
          <p:nvSpPr>
            <p:cNvPr id="5" name="Rectangle 4"/>
            <p:cNvSpPr/>
            <p:nvPr/>
          </p:nvSpPr>
          <p:spPr>
            <a:xfrm>
              <a:off x="844637" y="3677162"/>
              <a:ext cx="1551398" cy="688369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100" dirty="0" smtClean="0"/>
                <a:t>DTDCPB</a:t>
              </a:r>
            </a:p>
            <a:p>
              <a:pPr algn="ctr"/>
              <a:r>
                <a:rPr lang="en-US" sz="1100" dirty="0" err="1" smtClean="0"/>
                <a:t>opt+freq</a:t>
              </a:r>
              <a:endParaRPr lang="en-US" sz="1100" dirty="0"/>
            </a:p>
          </p:txBody>
        </p:sp>
        <p:sp>
          <p:nvSpPr>
            <p:cNvPr id="6" name="Rectangle 5"/>
            <p:cNvSpPr/>
            <p:nvPr/>
          </p:nvSpPr>
          <p:spPr>
            <a:xfrm>
              <a:off x="3012485" y="3677160"/>
              <a:ext cx="1571946" cy="688369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100" dirty="0" smtClean="0"/>
                <a:t>DTDCPB + E</a:t>
              </a:r>
              <a:r>
                <a:rPr lang="en-US" sz="1100" baseline="-25000" dirty="0"/>
                <a:t>2</a:t>
              </a:r>
              <a:r>
                <a:rPr lang="en-US" sz="1100" baseline="30000" dirty="0" smtClean="0"/>
                <a:t>field </a:t>
              </a:r>
              <a:r>
                <a:rPr lang="en-US" sz="1100" dirty="0" smtClean="0"/>
                <a:t> </a:t>
              </a:r>
              <a:r>
                <a:rPr lang="en-US" sz="1100" dirty="0" err="1" smtClean="0"/>
                <a:t>opt+freq</a:t>
              </a:r>
              <a:endParaRPr lang="en-US" sz="1100" dirty="0"/>
            </a:p>
          </p:txBody>
        </p:sp>
        <p:sp>
          <p:nvSpPr>
            <p:cNvPr id="7" name="Rectangle 6"/>
            <p:cNvSpPr/>
            <p:nvPr/>
          </p:nvSpPr>
          <p:spPr>
            <a:xfrm>
              <a:off x="3012485" y="2829492"/>
              <a:ext cx="1571946" cy="688369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100" dirty="0" smtClean="0"/>
                <a:t>DTDCPB + E</a:t>
              </a:r>
              <a:r>
                <a:rPr lang="en-US" sz="1100" baseline="-25000" dirty="0" smtClean="0"/>
                <a:t>1</a:t>
              </a:r>
              <a:r>
                <a:rPr lang="en-US" sz="1100" baseline="30000" dirty="0" smtClean="0"/>
                <a:t>field </a:t>
              </a:r>
              <a:r>
                <a:rPr lang="en-US" sz="1100" dirty="0" smtClean="0"/>
                <a:t> </a:t>
              </a:r>
              <a:r>
                <a:rPr lang="en-US" sz="1100" dirty="0" err="1" smtClean="0"/>
                <a:t>opt+freq</a:t>
              </a:r>
              <a:endParaRPr lang="en-US" sz="1100" dirty="0"/>
            </a:p>
          </p:txBody>
        </p:sp>
        <p:sp>
          <p:nvSpPr>
            <p:cNvPr id="8" name="Rectangle 7"/>
            <p:cNvSpPr/>
            <p:nvPr/>
          </p:nvSpPr>
          <p:spPr>
            <a:xfrm>
              <a:off x="3012485" y="4524828"/>
              <a:ext cx="1571946" cy="688369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100" dirty="0" smtClean="0"/>
                <a:t>DTDCPB + E</a:t>
              </a:r>
              <a:r>
                <a:rPr lang="en-US" sz="1100" baseline="-25000" dirty="0"/>
                <a:t>3</a:t>
              </a:r>
              <a:r>
                <a:rPr lang="en-US" sz="1100" baseline="30000" dirty="0" smtClean="0"/>
                <a:t>field </a:t>
              </a:r>
              <a:r>
                <a:rPr lang="en-US" sz="1100" dirty="0" smtClean="0"/>
                <a:t> </a:t>
              </a:r>
              <a:r>
                <a:rPr lang="en-US" sz="1100" dirty="0" err="1" smtClean="0"/>
                <a:t>opt+freq</a:t>
              </a:r>
              <a:endParaRPr lang="en-US" sz="1100" dirty="0"/>
            </a:p>
          </p:txBody>
        </p:sp>
        <p:sp>
          <p:nvSpPr>
            <p:cNvPr id="9" name="Rectangle 8"/>
            <p:cNvSpPr/>
            <p:nvPr/>
          </p:nvSpPr>
          <p:spPr>
            <a:xfrm>
              <a:off x="5241979" y="2829492"/>
              <a:ext cx="1571946" cy="688369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100" dirty="0" smtClean="0"/>
                <a:t>DTDCPB + E</a:t>
              </a:r>
              <a:r>
                <a:rPr lang="en-US" sz="1100" baseline="-25000" dirty="0" smtClean="0"/>
                <a:t>1</a:t>
              </a:r>
              <a:r>
                <a:rPr lang="en-US" sz="1100" baseline="30000" dirty="0" smtClean="0"/>
                <a:t>field </a:t>
              </a:r>
              <a:r>
                <a:rPr lang="en-US" sz="1100" dirty="0" smtClean="0"/>
                <a:t> Thermal Sampling</a:t>
              </a:r>
              <a:endParaRPr lang="en-US" sz="1100" dirty="0"/>
            </a:p>
          </p:txBody>
        </p:sp>
        <p:sp>
          <p:nvSpPr>
            <p:cNvPr id="10" name="Rectangle 9"/>
            <p:cNvSpPr/>
            <p:nvPr/>
          </p:nvSpPr>
          <p:spPr>
            <a:xfrm>
              <a:off x="5241979" y="3677160"/>
              <a:ext cx="1571946" cy="688369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100" dirty="0" smtClean="0"/>
                <a:t>DTDCPB + E</a:t>
              </a:r>
              <a:r>
                <a:rPr lang="en-US" sz="1100" baseline="-25000" dirty="0"/>
                <a:t>2</a:t>
              </a:r>
              <a:r>
                <a:rPr lang="en-US" sz="1100" baseline="30000" dirty="0" smtClean="0"/>
                <a:t>field </a:t>
              </a:r>
              <a:r>
                <a:rPr lang="en-US" sz="1100" dirty="0" smtClean="0"/>
                <a:t> Thermal Sampling</a:t>
              </a:r>
              <a:endParaRPr lang="en-US" sz="1100" dirty="0"/>
            </a:p>
          </p:txBody>
        </p:sp>
        <p:sp>
          <p:nvSpPr>
            <p:cNvPr id="11" name="Rectangle 10"/>
            <p:cNvSpPr/>
            <p:nvPr/>
          </p:nvSpPr>
          <p:spPr>
            <a:xfrm>
              <a:off x="5241979" y="4524827"/>
              <a:ext cx="1571946" cy="688369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100" dirty="0" smtClean="0"/>
                <a:t>DTDCPB + E</a:t>
              </a:r>
              <a:r>
                <a:rPr lang="en-US" sz="1100" baseline="-25000" dirty="0"/>
                <a:t>3</a:t>
              </a:r>
              <a:r>
                <a:rPr lang="en-US" sz="1100" baseline="30000" dirty="0" smtClean="0"/>
                <a:t>field </a:t>
              </a:r>
              <a:r>
                <a:rPr lang="en-US" sz="1100" dirty="0" smtClean="0"/>
                <a:t> Thermal Sampling</a:t>
              </a:r>
              <a:endParaRPr lang="en-US" sz="1100" dirty="0"/>
            </a:p>
          </p:txBody>
        </p:sp>
        <p:cxnSp>
          <p:nvCxnSpPr>
            <p:cNvPr id="12" name="Elbow Connector 11"/>
            <p:cNvCxnSpPr>
              <a:stCxn id="5" idx="3"/>
              <a:endCxn id="7" idx="1"/>
            </p:cNvCxnSpPr>
            <p:nvPr/>
          </p:nvCxnSpPr>
          <p:spPr>
            <a:xfrm flipV="1">
              <a:off x="2396035" y="3173677"/>
              <a:ext cx="616450" cy="847670"/>
            </a:xfrm>
            <a:prstGeom prst="bentConnector3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/>
            <p:cNvCxnSpPr>
              <a:stCxn id="5" idx="3"/>
              <a:endCxn id="6" idx="1"/>
            </p:cNvCxnSpPr>
            <p:nvPr/>
          </p:nvCxnSpPr>
          <p:spPr>
            <a:xfrm flipV="1">
              <a:off x="2396035" y="4021345"/>
              <a:ext cx="616450" cy="2"/>
            </a:xfrm>
            <a:prstGeom prst="line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  <a:headEnd type="non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Elbow Connector 13"/>
            <p:cNvCxnSpPr>
              <a:stCxn id="5" idx="3"/>
              <a:endCxn id="8" idx="1"/>
            </p:cNvCxnSpPr>
            <p:nvPr/>
          </p:nvCxnSpPr>
          <p:spPr>
            <a:xfrm>
              <a:off x="2396035" y="4021347"/>
              <a:ext cx="616450" cy="847666"/>
            </a:xfrm>
            <a:prstGeom prst="bentConnector3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Arrow Connector 14"/>
            <p:cNvCxnSpPr>
              <a:stCxn id="7" idx="3"/>
              <a:endCxn id="9" idx="1"/>
            </p:cNvCxnSpPr>
            <p:nvPr/>
          </p:nvCxnSpPr>
          <p:spPr>
            <a:xfrm>
              <a:off x="4584431" y="3173677"/>
              <a:ext cx="657548" cy="0"/>
            </a:xfrm>
            <a:prstGeom prst="straightConnector1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Arrow Connector 15"/>
            <p:cNvCxnSpPr>
              <a:stCxn id="6" idx="3"/>
              <a:endCxn id="10" idx="1"/>
            </p:cNvCxnSpPr>
            <p:nvPr/>
          </p:nvCxnSpPr>
          <p:spPr>
            <a:xfrm>
              <a:off x="4584431" y="4021345"/>
              <a:ext cx="657548" cy="0"/>
            </a:xfrm>
            <a:prstGeom prst="straightConnector1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Arrow Connector 16"/>
            <p:cNvCxnSpPr>
              <a:stCxn id="8" idx="3"/>
              <a:endCxn id="11" idx="1"/>
            </p:cNvCxnSpPr>
            <p:nvPr/>
          </p:nvCxnSpPr>
          <p:spPr>
            <a:xfrm flipV="1">
              <a:off x="4584431" y="4869012"/>
              <a:ext cx="657548" cy="1"/>
            </a:xfrm>
            <a:prstGeom prst="straightConnector1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Rectangle 17"/>
            <p:cNvSpPr/>
            <p:nvPr/>
          </p:nvSpPr>
          <p:spPr>
            <a:xfrm>
              <a:off x="7471473" y="1585043"/>
              <a:ext cx="1571946" cy="390634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100" dirty="0" smtClean="0"/>
                <a:t>E</a:t>
              </a:r>
              <a:r>
                <a:rPr lang="en-US" sz="1100" baseline="-25000" dirty="0"/>
                <a:t>1</a:t>
              </a:r>
              <a:r>
                <a:rPr lang="en-US" sz="1100" baseline="30000" dirty="0" smtClean="0"/>
                <a:t>field </a:t>
              </a:r>
              <a:r>
                <a:rPr lang="en-US" sz="1100" dirty="0" smtClean="0"/>
                <a:t> BOMD Trajectory 1</a:t>
              </a:r>
              <a:endParaRPr lang="en-US" sz="1100" dirty="0"/>
            </a:p>
          </p:txBody>
        </p:sp>
        <p:sp>
          <p:nvSpPr>
            <p:cNvPr id="19" name="Rectangle 18"/>
            <p:cNvSpPr/>
            <p:nvPr/>
          </p:nvSpPr>
          <p:spPr>
            <a:xfrm>
              <a:off x="7471473" y="2145482"/>
              <a:ext cx="1571946" cy="390634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100" dirty="0" smtClean="0"/>
                <a:t>E</a:t>
              </a:r>
              <a:r>
                <a:rPr lang="en-US" sz="1100" baseline="-25000" dirty="0" smtClean="0"/>
                <a:t>1</a:t>
              </a:r>
              <a:r>
                <a:rPr lang="en-US" sz="1100" baseline="30000" dirty="0" smtClean="0"/>
                <a:t>field </a:t>
              </a:r>
              <a:r>
                <a:rPr lang="en-US" sz="1100" dirty="0" smtClean="0"/>
                <a:t> BOMD Trajectory 2</a:t>
              </a:r>
              <a:endParaRPr lang="en-US" sz="1100" dirty="0"/>
            </a:p>
          </p:txBody>
        </p:sp>
        <p:sp>
          <p:nvSpPr>
            <p:cNvPr id="20" name="Rectangle 19"/>
            <p:cNvSpPr/>
            <p:nvPr/>
          </p:nvSpPr>
          <p:spPr>
            <a:xfrm>
              <a:off x="7471473" y="2705921"/>
              <a:ext cx="1571946" cy="390634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100" dirty="0" smtClean="0"/>
                <a:t>E</a:t>
              </a:r>
              <a:r>
                <a:rPr lang="en-US" sz="1100" baseline="-25000" dirty="0" smtClean="0"/>
                <a:t>1</a:t>
              </a:r>
              <a:r>
                <a:rPr lang="en-US" sz="1100" baseline="30000" dirty="0" smtClean="0"/>
                <a:t>field </a:t>
              </a:r>
              <a:r>
                <a:rPr lang="en-US" sz="1100" dirty="0" smtClean="0"/>
                <a:t> BOMD Trajectory 3</a:t>
              </a:r>
              <a:endParaRPr lang="en-US" sz="1100" dirty="0"/>
            </a:p>
          </p:txBody>
        </p:sp>
        <p:sp>
          <p:nvSpPr>
            <p:cNvPr id="21" name="Rectangle 20"/>
            <p:cNvSpPr/>
            <p:nvPr/>
          </p:nvSpPr>
          <p:spPr>
            <a:xfrm>
              <a:off x="7471473" y="3265974"/>
              <a:ext cx="1571946" cy="390634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100" dirty="0" smtClean="0"/>
                <a:t>E</a:t>
              </a:r>
              <a:r>
                <a:rPr lang="en-US" sz="1100" baseline="-25000" dirty="0"/>
                <a:t>2</a:t>
              </a:r>
              <a:r>
                <a:rPr lang="en-US" sz="1100" baseline="30000" dirty="0" smtClean="0"/>
                <a:t>field </a:t>
              </a:r>
              <a:r>
                <a:rPr lang="en-US" sz="1100" dirty="0" smtClean="0"/>
                <a:t> BOMD Trajectory 1</a:t>
              </a:r>
              <a:endParaRPr lang="en-US" sz="1100" dirty="0"/>
            </a:p>
          </p:txBody>
        </p:sp>
        <p:sp>
          <p:nvSpPr>
            <p:cNvPr id="22" name="Rectangle 21"/>
            <p:cNvSpPr/>
            <p:nvPr/>
          </p:nvSpPr>
          <p:spPr>
            <a:xfrm>
              <a:off x="7471473" y="3826027"/>
              <a:ext cx="1571946" cy="390634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100" dirty="0" smtClean="0"/>
                <a:t>E</a:t>
              </a:r>
              <a:r>
                <a:rPr lang="en-US" sz="1100" baseline="-25000" dirty="0"/>
                <a:t>2</a:t>
              </a:r>
              <a:r>
                <a:rPr lang="en-US" sz="1100" baseline="30000" dirty="0" smtClean="0"/>
                <a:t>field </a:t>
              </a:r>
              <a:r>
                <a:rPr lang="en-US" sz="1100" dirty="0" smtClean="0"/>
                <a:t> BOMD Trajectory 2</a:t>
              </a:r>
              <a:endParaRPr lang="en-US" sz="1100" dirty="0"/>
            </a:p>
          </p:txBody>
        </p:sp>
        <p:sp>
          <p:nvSpPr>
            <p:cNvPr id="23" name="Rectangle 22"/>
            <p:cNvSpPr/>
            <p:nvPr/>
          </p:nvSpPr>
          <p:spPr>
            <a:xfrm>
              <a:off x="7471473" y="4386466"/>
              <a:ext cx="1571946" cy="390634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100" dirty="0" smtClean="0"/>
                <a:t>E</a:t>
              </a:r>
              <a:r>
                <a:rPr lang="en-US" sz="1100" baseline="-25000" dirty="0"/>
                <a:t>2</a:t>
              </a:r>
              <a:r>
                <a:rPr lang="en-US" sz="1100" baseline="30000" dirty="0" smtClean="0"/>
                <a:t>field </a:t>
              </a:r>
              <a:r>
                <a:rPr lang="en-US" sz="1100" dirty="0" smtClean="0"/>
                <a:t> BOMD Trajectory 3</a:t>
              </a:r>
              <a:endParaRPr lang="en-US" sz="1100" dirty="0"/>
            </a:p>
          </p:txBody>
        </p:sp>
        <p:sp>
          <p:nvSpPr>
            <p:cNvPr id="24" name="Rectangle 23"/>
            <p:cNvSpPr/>
            <p:nvPr/>
          </p:nvSpPr>
          <p:spPr>
            <a:xfrm>
              <a:off x="7471473" y="4946905"/>
              <a:ext cx="1571946" cy="390634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100" dirty="0" smtClean="0"/>
                <a:t>E</a:t>
              </a:r>
              <a:r>
                <a:rPr lang="en-US" sz="1100" baseline="-25000" dirty="0"/>
                <a:t>3</a:t>
              </a:r>
              <a:r>
                <a:rPr lang="en-US" sz="1100" baseline="30000" dirty="0" smtClean="0"/>
                <a:t>field </a:t>
              </a:r>
              <a:r>
                <a:rPr lang="en-US" sz="1100" dirty="0" smtClean="0"/>
                <a:t> BOMD Trajectory 1</a:t>
              </a:r>
              <a:endParaRPr lang="en-US" sz="1100" dirty="0"/>
            </a:p>
          </p:txBody>
        </p:sp>
        <p:sp>
          <p:nvSpPr>
            <p:cNvPr id="25" name="Rectangle 24"/>
            <p:cNvSpPr/>
            <p:nvPr/>
          </p:nvSpPr>
          <p:spPr>
            <a:xfrm>
              <a:off x="7471473" y="5507344"/>
              <a:ext cx="1571946" cy="390634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100" dirty="0" smtClean="0"/>
                <a:t>E</a:t>
              </a:r>
              <a:r>
                <a:rPr lang="en-US" sz="1100" baseline="-25000" dirty="0"/>
                <a:t>3</a:t>
              </a:r>
              <a:r>
                <a:rPr lang="en-US" sz="1100" baseline="30000" dirty="0" smtClean="0"/>
                <a:t>field </a:t>
              </a:r>
              <a:r>
                <a:rPr lang="en-US" sz="1100" dirty="0" smtClean="0"/>
                <a:t> BOMD Trajectory 2</a:t>
              </a:r>
              <a:endParaRPr lang="en-US" sz="1100" dirty="0"/>
            </a:p>
          </p:txBody>
        </p:sp>
        <p:sp>
          <p:nvSpPr>
            <p:cNvPr id="26" name="Rectangle 25"/>
            <p:cNvSpPr/>
            <p:nvPr/>
          </p:nvSpPr>
          <p:spPr>
            <a:xfrm>
              <a:off x="7471473" y="6067783"/>
              <a:ext cx="1571946" cy="390634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100" dirty="0" smtClean="0"/>
                <a:t>E</a:t>
              </a:r>
              <a:r>
                <a:rPr lang="en-US" sz="1100" baseline="-25000" dirty="0"/>
                <a:t>3</a:t>
              </a:r>
              <a:r>
                <a:rPr lang="en-US" sz="1100" baseline="30000" dirty="0" smtClean="0"/>
                <a:t>field </a:t>
              </a:r>
              <a:r>
                <a:rPr lang="en-US" sz="1100" dirty="0" smtClean="0"/>
                <a:t> BOMD Trajectory 3</a:t>
              </a:r>
              <a:endParaRPr lang="en-US" sz="1100" dirty="0"/>
            </a:p>
          </p:txBody>
        </p:sp>
        <p:cxnSp>
          <p:nvCxnSpPr>
            <p:cNvPr id="27" name="Elbow Connector 26"/>
            <p:cNvCxnSpPr>
              <a:stCxn id="9" idx="3"/>
              <a:endCxn id="18" idx="1"/>
            </p:cNvCxnSpPr>
            <p:nvPr/>
          </p:nvCxnSpPr>
          <p:spPr>
            <a:xfrm flipV="1">
              <a:off x="6813925" y="1780360"/>
              <a:ext cx="657548" cy="1393317"/>
            </a:xfrm>
            <a:prstGeom prst="bentConnector3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Elbow Connector 27"/>
            <p:cNvCxnSpPr>
              <a:stCxn id="9" idx="3"/>
              <a:endCxn id="19" idx="1"/>
            </p:cNvCxnSpPr>
            <p:nvPr/>
          </p:nvCxnSpPr>
          <p:spPr>
            <a:xfrm flipV="1">
              <a:off x="6813925" y="2340799"/>
              <a:ext cx="657548" cy="832878"/>
            </a:xfrm>
            <a:prstGeom prst="bentConnector3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Elbow Connector 28"/>
            <p:cNvCxnSpPr>
              <a:stCxn id="9" idx="3"/>
              <a:endCxn id="20" idx="1"/>
            </p:cNvCxnSpPr>
            <p:nvPr/>
          </p:nvCxnSpPr>
          <p:spPr>
            <a:xfrm flipV="1">
              <a:off x="6813925" y="2901238"/>
              <a:ext cx="657548" cy="272439"/>
            </a:xfrm>
            <a:prstGeom prst="bentConnector3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Elbow Connector 29"/>
            <p:cNvCxnSpPr>
              <a:stCxn id="10" idx="3"/>
              <a:endCxn id="21" idx="1"/>
            </p:cNvCxnSpPr>
            <p:nvPr/>
          </p:nvCxnSpPr>
          <p:spPr>
            <a:xfrm flipV="1">
              <a:off x="6813925" y="3461291"/>
              <a:ext cx="657548" cy="560054"/>
            </a:xfrm>
            <a:prstGeom prst="bentConnector3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Elbow Connector 30"/>
            <p:cNvCxnSpPr>
              <a:stCxn id="10" idx="3"/>
              <a:endCxn id="22" idx="1"/>
            </p:cNvCxnSpPr>
            <p:nvPr/>
          </p:nvCxnSpPr>
          <p:spPr>
            <a:xfrm flipV="1">
              <a:off x="6813925" y="4021344"/>
              <a:ext cx="657548" cy="1"/>
            </a:xfrm>
            <a:prstGeom prst="bentConnector3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Elbow Connector 31"/>
            <p:cNvCxnSpPr>
              <a:stCxn id="10" idx="3"/>
              <a:endCxn id="23" idx="1"/>
            </p:cNvCxnSpPr>
            <p:nvPr/>
          </p:nvCxnSpPr>
          <p:spPr>
            <a:xfrm>
              <a:off x="6813925" y="4021345"/>
              <a:ext cx="657548" cy="560438"/>
            </a:xfrm>
            <a:prstGeom prst="bentConnector3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Elbow Connector 32"/>
            <p:cNvCxnSpPr>
              <a:stCxn id="11" idx="3"/>
              <a:endCxn id="26" idx="1"/>
            </p:cNvCxnSpPr>
            <p:nvPr/>
          </p:nvCxnSpPr>
          <p:spPr>
            <a:xfrm>
              <a:off x="6813925" y="4869012"/>
              <a:ext cx="657548" cy="1394088"/>
            </a:xfrm>
            <a:prstGeom prst="bentConnector3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Elbow Connector 33"/>
            <p:cNvCxnSpPr>
              <a:stCxn id="11" idx="3"/>
              <a:endCxn id="26" idx="1"/>
            </p:cNvCxnSpPr>
            <p:nvPr/>
          </p:nvCxnSpPr>
          <p:spPr>
            <a:xfrm>
              <a:off x="6813925" y="4869012"/>
              <a:ext cx="657548" cy="1394088"/>
            </a:xfrm>
            <a:prstGeom prst="bentConnector3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Elbow Connector 34"/>
            <p:cNvCxnSpPr>
              <a:stCxn id="11" idx="3"/>
              <a:endCxn id="25" idx="1"/>
            </p:cNvCxnSpPr>
            <p:nvPr/>
          </p:nvCxnSpPr>
          <p:spPr>
            <a:xfrm>
              <a:off x="6813925" y="4869012"/>
              <a:ext cx="657548" cy="833649"/>
            </a:xfrm>
            <a:prstGeom prst="bentConnector3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Elbow Connector 35"/>
            <p:cNvCxnSpPr>
              <a:stCxn id="11" idx="3"/>
              <a:endCxn id="24" idx="1"/>
            </p:cNvCxnSpPr>
            <p:nvPr/>
          </p:nvCxnSpPr>
          <p:spPr>
            <a:xfrm>
              <a:off x="6813925" y="4869012"/>
              <a:ext cx="657548" cy="273210"/>
            </a:xfrm>
            <a:prstGeom prst="bentConnector3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7" name="Right Brace 36"/>
            <p:cNvSpPr/>
            <p:nvPr/>
          </p:nvSpPr>
          <p:spPr>
            <a:xfrm rot="16200000">
              <a:off x="5674091" y="-1874382"/>
              <a:ext cx="707720" cy="6030935"/>
            </a:xfrm>
            <a:prstGeom prst="rightBrac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100">
                <a:solidFill>
                  <a:srgbClr val="FF0000"/>
                </a:solidFill>
              </a:endParaRPr>
            </a:p>
          </p:txBody>
        </p:sp>
        <p:sp>
          <p:nvSpPr>
            <p:cNvPr id="38" name="Right Brace 37"/>
            <p:cNvSpPr/>
            <p:nvPr/>
          </p:nvSpPr>
          <p:spPr>
            <a:xfrm rot="16200000">
              <a:off x="1574702" y="57162"/>
              <a:ext cx="707720" cy="2167848"/>
            </a:xfrm>
            <a:prstGeom prst="rightBrac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100">
                <a:solidFill>
                  <a:srgbClr val="FF0000"/>
                </a:solidFill>
              </a:endParaRPr>
            </a:p>
          </p:txBody>
        </p:sp>
        <p:sp>
          <p:nvSpPr>
            <p:cNvPr id="39" name="TextBox 38"/>
            <p:cNvSpPr txBox="1"/>
            <p:nvPr/>
          </p:nvSpPr>
          <p:spPr>
            <a:xfrm>
              <a:off x="4763022" y="1230572"/>
              <a:ext cx="2438006" cy="30071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100" dirty="0" smtClean="0"/>
                <a:t>E-Field Applied in Gaussian</a:t>
              </a:r>
              <a:endParaRPr lang="en-US" sz="1100" dirty="0"/>
            </a:p>
          </p:txBody>
        </p:sp>
        <p:sp>
          <p:nvSpPr>
            <p:cNvPr id="40" name="TextBox 39"/>
            <p:cNvSpPr txBox="1"/>
            <p:nvPr/>
          </p:nvSpPr>
          <p:spPr>
            <a:xfrm>
              <a:off x="1360039" y="1227551"/>
              <a:ext cx="1057382" cy="30071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100" dirty="0" smtClean="0"/>
                <a:t>No E-Field</a:t>
              </a:r>
              <a:endParaRPr lang="en-US" sz="1100" dirty="0"/>
            </a:p>
          </p:txBody>
        </p:sp>
        <p:sp>
          <p:nvSpPr>
            <p:cNvPr id="41" name="Rectangle 40"/>
            <p:cNvSpPr/>
            <p:nvPr/>
          </p:nvSpPr>
          <p:spPr>
            <a:xfrm>
              <a:off x="9699958" y="1596883"/>
              <a:ext cx="1571946" cy="1499672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400" dirty="0" smtClean="0"/>
                <a:t>E</a:t>
              </a:r>
              <a:r>
                <a:rPr lang="en-US" sz="1400" baseline="-25000" dirty="0" smtClean="0"/>
                <a:t>1</a:t>
              </a:r>
              <a:r>
                <a:rPr lang="en-US" sz="1400" baseline="30000" dirty="0" smtClean="0"/>
                <a:t>field</a:t>
              </a:r>
              <a:r>
                <a:rPr lang="en-US" sz="1400" dirty="0" smtClean="0"/>
                <a:t> IR Spectrum</a:t>
              </a:r>
              <a:endParaRPr lang="en-US" sz="1400" dirty="0"/>
            </a:p>
          </p:txBody>
        </p:sp>
        <p:sp>
          <p:nvSpPr>
            <p:cNvPr id="42" name="Rectangle 41"/>
            <p:cNvSpPr/>
            <p:nvPr/>
          </p:nvSpPr>
          <p:spPr>
            <a:xfrm>
              <a:off x="9699958" y="3265974"/>
              <a:ext cx="1571946" cy="1511126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400" dirty="0" smtClean="0"/>
                <a:t>E</a:t>
              </a:r>
              <a:r>
                <a:rPr lang="en-US" sz="1400" baseline="-25000" dirty="0"/>
                <a:t>2</a:t>
              </a:r>
              <a:r>
                <a:rPr lang="en-US" sz="1400" baseline="30000" dirty="0" smtClean="0"/>
                <a:t>field</a:t>
              </a:r>
              <a:r>
                <a:rPr lang="en-US" sz="1400" dirty="0" smtClean="0"/>
                <a:t> IR Spectrum</a:t>
              </a:r>
              <a:endParaRPr lang="en-US" sz="1400" dirty="0"/>
            </a:p>
          </p:txBody>
        </p:sp>
        <p:sp>
          <p:nvSpPr>
            <p:cNvPr id="43" name="Rectangle 42"/>
            <p:cNvSpPr/>
            <p:nvPr/>
          </p:nvSpPr>
          <p:spPr>
            <a:xfrm>
              <a:off x="9699958" y="4958745"/>
              <a:ext cx="1571946" cy="1499672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400" dirty="0" smtClean="0"/>
                <a:t>E</a:t>
              </a:r>
              <a:r>
                <a:rPr lang="en-US" sz="1400" baseline="-25000" dirty="0"/>
                <a:t>3</a:t>
              </a:r>
              <a:r>
                <a:rPr lang="en-US" sz="1400" baseline="30000" dirty="0" smtClean="0"/>
                <a:t>field</a:t>
              </a:r>
              <a:r>
                <a:rPr lang="en-US" sz="1400" dirty="0" smtClean="0"/>
                <a:t> IR Spectrum</a:t>
              </a:r>
              <a:endParaRPr lang="en-US" sz="1400" dirty="0"/>
            </a:p>
          </p:txBody>
        </p:sp>
        <p:cxnSp>
          <p:nvCxnSpPr>
            <p:cNvPr id="44" name="Elbow Connector 43"/>
            <p:cNvCxnSpPr>
              <a:stCxn id="18" idx="3"/>
              <a:endCxn id="41" idx="1"/>
            </p:cNvCxnSpPr>
            <p:nvPr/>
          </p:nvCxnSpPr>
          <p:spPr>
            <a:xfrm>
              <a:off x="9043419" y="1780360"/>
              <a:ext cx="656539" cy="566359"/>
            </a:xfrm>
            <a:prstGeom prst="bentConnector3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Elbow Connector 44"/>
            <p:cNvCxnSpPr>
              <a:stCxn id="19" idx="3"/>
              <a:endCxn id="41" idx="1"/>
            </p:cNvCxnSpPr>
            <p:nvPr/>
          </p:nvCxnSpPr>
          <p:spPr>
            <a:xfrm>
              <a:off x="9043419" y="2340799"/>
              <a:ext cx="656539" cy="5920"/>
            </a:xfrm>
            <a:prstGeom prst="bentConnector3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Elbow Connector 45"/>
            <p:cNvCxnSpPr>
              <a:stCxn id="20" idx="3"/>
              <a:endCxn id="41" idx="1"/>
            </p:cNvCxnSpPr>
            <p:nvPr/>
          </p:nvCxnSpPr>
          <p:spPr>
            <a:xfrm flipV="1">
              <a:off x="9043419" y="2346719"/>
              <a:ext cx="656539" cy="554519"/>
            </a:xfrm>
            <a:prstGeom prst="bentConnector3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Elbow Connector 46"/>
            <p:cNvCxnSpPr>
              <a:stCxn id="21" idx="3"/>
            </p:cNvCxnSpPr>
            <p:nvPr/>
          </p:nvCxnSpPr>
          <p:spPr>
            <a:xfrm>
              <a:off x="9043419" y="3461291"/>
              <a:ext cx="656539" cy="557093"/>
            </a:xfrm>
            <a:prstGeom prst="bentConnector3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Elbow Connector 47"/>
            <p:cNvCxnSpPr>
              <a:stCxn id="23" idx="3"/>
              <a:endCxn id="42" idx="1"/>
            </p:cNvCxnSpPr>
            <p:nvPr/>
          </p:nvCxnSpPr>
          <p:spPr>
            <a:xfrm flipV="1">
              <a:off x="9043419" y="4021537"/>
              <a:ext cx="656539" cy="560246"/>
            </a:xfrm>
            <a:prstGeom prst="bentConnector3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Elbow Connector 48"/>
            <p:cNvCxnSpPr>
              <a:stCxn id="22" idx="3"/>
              <a:endCxn id="42" idx="1"/>
            </p:cNvCxnSpPr>
            <p:nvPr/>
          </p:nvCxnSpPr>
          <p:spPr>
            <a:xfrm>
              <a:off x="9043419" y="4021344"/>
              <a:ext cx="656539" cy="193"/>
            </a:xfrm>
            <a:prstGeom prst="bentConnector3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Elbow Connector 49"/>
            <p:cNvCxnSpPr>
              <a:stCxn id="24" idx="3"/>
              <a:endCxn id="43" idx="1"/>
            </p:cNvCxnSpPr>
            <p:nvPr/>
          </p:nvCxnSpPr>
          <p:spPr>
            <a:xfrm>
              <a:off x="9043419" y="5142222"/>
              <a:ext cx="656539" cy="566359"/>
            </a:xfrm>
            <a:prstGeom prst="bentConnector3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Elbow Connector 50"/>
            <p:cNvCxnSpPr>
              <a:stCxn id="26" idx="3"/>
              <a:endCxn id="43" idx="1"/>
            </p:cNvCxnSpPr>
            <p:nvPr/>
          </p:nvCxnSpPr>
          <p:spPr>
            <a:xfrm flipV="1">
              <a:off x="9043419" y="5708581"/>
              <a:ext cx="656539" cy="554519"/>
            </a:xfrm>
            <a:prstGeom prst="bentConnector3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Elbow Connector 51"/>
            <p:cNvCxnSpPr>
              <a:stCxn id="25" idx="3"/>
              <a:endCxn id="43" idx="1"/>
            </p:cNvCxnSpPr>
            <p:nvPr/>
          </p:nvCxnSpPr>
          <p:spPr>
            <a:xfrm>
              <a:off x="9043419" y="5702661"/>
              <a:ext cx="656539" cy="5920"/>
            </a:xfrm>
            <a:prstGeom prst="bentConnector3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24667979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/>
          <p:cNvSpPr>
            <a:spLocks noGrp="1"/>
          </p:cNvSpPr>
          <p:nvPr>
            <p:ph type="title"/>
          </p:nvPr>
        </p:nvSpPr>
        <p:spPr>
          <a:xfrm>
            <a:off x="549275" y="244135"/>
            <a:ext cx="8042276" cy="726634"/>
          </a:xfrm>
        </p:spPr>
        <p:txBody>
          <a:bodyPr/>
          <a:lstStyle/>
          <a:p>
            <a:r>
              <a:rPr lang="en-US" dirty="0" smtClean="0"/>
              <a:t>BOMD Test Case: Cyanide</a:t>
            </a:r>
            <a:endParaRPr lang="en-US" dirty="0"/>
          </a:p>
        </p:txBody>
      </p:sp>
      <p:pic>
        <p:nvPicPr>
          <p:cNvPr id="4" name="Picture 3" descr="Screen Shot 2016-05-26 at 9.53.54 A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2874" y="1529969"/>
            <a:ext cx="8158677" cy="1519973"/>
          </a:xfrm>
          <a:prstGeom prst="rect">
            <a:avLst/>
          </a:prstGeom>
        </p:spPr>
      </p:pic>
      <p:sp>
        <p:nvSpPr>
          <p:cNvPr id="5" name="Content Placeholder 2"/>
          <p:cNvSpPr txBox="1">
            <a:spLocks/>
          </p:cNvSpPr>
          <p:nvPr/>
        </p:nvSpPr>
        <p:spPr>
          <a:xfrm>
            <a:off x="549275" y="3586042"/>
            <a:ext cx="7761255" cy="2460871"/>
          </a:xfrm>
          <a:prstGeom prst="rect">
            <a:avLst/>
          </a:prstGeom>
        </p:spPr>
        <p:txBody>
          <a:bodyPr>
            <a:normAutofit/>
          </a:bodyPr>
          <a:lstStyle>
            <a:lvl1pPr marL="349250" indent="-349250" algn="l" defTabSz="914400" rtl="0" eaLnBrk="1" latinLnBrk="0" hangingPunct="1">
              <a:spcBef>
                <a:spcPts val="2000"/>
              </a:spcBef>
              <a:buClr>
                <a:schemeClr val="accent1">
                  <a:lumMod val="60000"/>
                  <a:lumOff val="40000"/>
                </a:schemeClr>
              </a:buClr>
              <a:buSzPct val="110000"/>
              <a:buFont typeface="Wingdings 2" pitchFamily="18" charset="2"/>
              <a:buChar char=""/>
              <a:defRPr sz="2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336550" algn="l" defTabSz="914400" rtl="0" eaLnBrk="1" latinLnBrk="0" hangingPunct="1">
              <a:spcBef>
                <a:spcPts val="600"/>
              </a:spcBef>
              <a:buClr>
                <a:schemeClr val="accent1">
                  <a:lumMod val="75000"/>
                </a:schemeClr>
              </a:buClr>
              <a:buSzPct val="110000"/>
              <a:buFont typeface="Wingdings 2" pitchFamily="18" charset="2"/>
              <a:buChar char=""/>
              <a:defRPr sz="22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68375" indent="-282575" algn="l" defTabSz="914400" rtl="0" eaLnBrk="1" latinLnBrk="0" hangingPunct="1">
              <a:spcBef>
                <a:spcPts val="600"/>
              </a:spcBef>
              <a:buClr>
                <a:schemeClr val="accent1">
                  <a:lumMod val="60000"/>
                  <a:lumOff val="40000"/>
                </a:schemeClr>
              </a:buClr>
              <a:buSzPct val="110000"/>
              <a:buFont typeface="Wingdings 2" pitchFamily="18" charset="2"/>
              <a:buChar char=""/>
              <a:defRPr sz="20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263650" indent="-295275" algn="l" defTabSz="914400" rtl="0" eaLnBrk="1" latinLnBrk="0" hangingPunct="1">
              <a:spcBef>
                <a:spcPts val="600"/>
              </a:spcBef>
              <a:buClr>
                <a:schemeClr val="accent1">
                  <a:lumMod val="75000"/>
                </a:schemeClr>
              </a:buClr>
              <a:buSzPct val="110000"/>
              <a:buFont typeface="Wingdings 2" pitchFamily="18" charset="2"/>
              <a:buChar char=""/>
              <a:defRPr sz="18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546225" indent="-282575" algn="l" defTabSz="914400" rtl="0" eaLnBrk="1" latinLnBrk="0" hangingPunct="1">
              <a:spcBef>
                <a:spcPts val="600"/>
              </a:spcBef>
              <a:buClr>
                <a:schemeClr val="accent1">
                  <a:lumMod val="60000"/>
                  <a:lumOff val="40000"/>
                </a:schemeClr>
              </a:buClr>
              <a:buSzPct val="110000"/>
              <a:buFont typeface="Wingdings 2" pitchFamily="18" charset="2"/>
              <a:buChar char=""/>
              <a:defRPr sz="18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828800" indent="-282575" algn="l" defTabSz="914400" rtl="0" eaLnBrk="1" latinLnBrk="0" hangingPunct="1">
              <a:spcBef>
                <a:spcPct val="20000"/>
              </a:spcBef>
              <a:buClr>
                <a:schemeClr val="accent2"/>
              </a:buClr>
              <a:buSzPct val="110000"/>
              <a:buFont typeface="Wingdings 2" pitchFamily="18" charset="2"/>
              <a:buChar char=""/>
              <a:defRPr lang="en-US" sz="1800" kern="12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117725" indent="-282575" algn="l" defTabSz="914400" rtl="0" eaLnBrk="1" latinLnBrk="0" hangingPunct="1">
              <a:spcBef>
                <a:spcPct val="20000"/>
              </a:spcBef>
              <a:buClr>
                <a:schemeClr val="accent1">
                  <a:lumMod val="60000"/>
                  <a:lumOff val="40000"/>
                </a:schemeClr>
              </a:buClr>
              <a:buSzPct val="110000"/>
              <a:buFont typeface="Wingdings 2" pitchFamily="18" charset="2"/>
              <a:buChar char=""/>
              <a:defRPr lang="en-US" sz="1800" kern="12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398713" indent="-282575" algn="l" defTabSz="914400" rtl="0" eaLnBrk="1" latinLnBrk="0" hangingPunct="1">
              <a:spcBef>
                <a:spcPct val="20000"/>
              </a:spcBef>
              <a:buClr>
                <a:schemeClr val="accent2"/>
              </a:buClr>
              <a:buSzPct val="110000"/>
              <a:buFont typeface="Wingdings 2" pitchFamily="18" charset="2"/>
              <a:buChar char=""/>
              <a:defRPr lang="en-US" sz="1800" kern="12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689225" indent="-282575" algn="l" defTabSz="914400" rtl="0" eaLnBrk="1" latinLnBrk="0" hangingPunct="1">
              <a:spcBef>
                <a:spcPct val="20000"/>
              </a:spcBef>
              <a:buClr>
                <a:schemeClr val="accent1">
                  <a:lumMod val="60000"/>
                  <a:lumOff val="40000"/>
                </a:schemeClr>
              </a:buClr>
              <a:buSzPct val="110000"/>
              <a:buFont typeface="Wingdings 2" pitchFamily="18" charset="2"/>
              <a:buChar char=""/>
              <a:defRPr lang="en-US" sz="1800" kern="1200" dirty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 smtClean="0"/>
              <a:t>Thermal sampling provides initial conditions for positions and velocities</a:t>
            </a:r>
          </a:p>
          <a:p>
            <a:r>
              <a:rPr lang="en-US" dirty="0" smtClean="0"/>
              <a:t>Each set of values can then be used as a staring point for the production of a trajectory in time</a:t>
            </a:r>
          </a:p>
        </p:txBody>
      </p:sp>
    </p:spTree>
    <p:extLst>
      <p:ext uri="{BB962C8B-B14F-4D97-AF65-F5344CB8AC3E}">
        <p14:creationId xmlns:p14="http://schemas.microsoft.com/office/powerpoint/2010/main" val="4210339762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9275" y="244135"/>
            <a:ext cx="8042276" cy="726634"/>
          </a:xfrm>
        </p:spPr>
        <p:txBody>
          <a:bodyPr/>
          <a:lstStyle/>
          <a:p>
            <a:r>
              <a:rPr lang="en-US" dirty="0" smtClean="0"/>
              <a:t>BOMD Test Case: Cyanide</a:t>
            </a:r>
            <a:endParaRPr lang="en-US" dirty="0"/>
          </a:p>
        </p:txBody>
      </p:sp>
      <p:pic>
        <p:nvPicPr>
          <p:cNvPr id="6" name="Content Placeholder 5" descr="sped_CN_1.gif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816" b="6816"/>
          <a:stretch>
            <a:fillRect/>
          </a:stretch>
        </p:blipFill>
        <p:spPr>
          <a:xfrm>
            <a:off x="549275" y="1081215"/>
            <a:ext cx="4154384" cy="2243662"/>
          </a:xfrm>
        </p:spPr>
      </p:pic>
      <p:pic>
        <p:nvPicPr>
          <p:cNvPr id="7" name="Picture 6" descr="Screen Shot 2016-05-26 at 9.50.26 AM.png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2244"/>
          <a:stretch/>
        </p:blipFill>
        <p:spPr>
          <a:xfrm>
            <a:off x="549275" y="3457119"/>
            <a:ext cx="4154384" cy="3155830"/>
          </a:xfrm>
          <a:prstGeom prst="rect">
            <a:avLst/>
          </a:prstGeom>
        </p:spPr>
      </p:pic>
      <p:sp>
        <p:nvSpPr>
          <p:cNvPr id="8" name="Content Placeholder 2"/>
          <p:cNvSpPr txBox="1">
            <a:spLocks/>
          </p:cNvSpPr>
          <p:nvPr/>
        </p:nvSpPr>
        <p:spPr>
          <a:xfrm>
            <a:off x="4828785" y="1081216"/>
            <a:ext cx="4116770" cy="5531734"/>
          </a:xfrm>
          <a:prstGeom prst="rect">
            <a:avLst/>
          </a:prstGeom>
        </p:spPr>
        <p:txBody>
          <a:bodyPr>
            <a:normAutofit/>
          </a:bodyPr>
          <a:lstStyle>
            <a:lvl1pPr marL="349250" indent="-349250" algn="l" defTabSz="914400" rtl="0" eaLnBrk="1" latinLnBrk="0" hangingPunct="1">
              <a:spcBef>
                <a:spcPts val="2000"/>
              </a:spcBef>
              <a:buClr>
                <a:schemeClr val="accent1">
                  <a:lumMod val="60000"/>
                  <a:lumOff val="40000"/>
                </a:schemeClr>
              </a:buClr>
              <a:buSzPct val="110000"/>
              <a:buFont typeface="Wingdings 2" pitchFamily="18" charset="2"/>
              <a:buChar char=""/>
              <a:defRPr sz="2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336550" algn="l" defTabSz="914400" rtl="0" eaLnBrk="1" latinLnBrk="0" hangingPunct="1">
              <a:spcBef>
                <a:spcPts val="600"/>
              </a:spcBef>
              <a:buClr>
                <a:schemeClr val="accent1">
                  <a:lumMod val="75000"/>
                </a:schemeClr>
              </a:buClr>
              <a:buSzPct val="110000"/>
              <a:buFont typeface="Wingdings 2" pitchFamily="18" charset="2"/>
              <a:buChar char=""/>
              <a:defRPr sz="22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68375" indent="-282575" algn="l" defTabSz="914400" rtl="0" eaLnBrk="1" latinLnBrk="0" hangingPunct="1">
              <a:spcBef>
                <a:spcPts val="600"/>
              </a:spcBef>
              <a:buClr>
                <a:schemeClr val="accent1">
                  <a:lumMod val="60000"/>
                  <a:lumOff val="40000"/>
                </a:schemeClr>
              </a:buClr>
              <a:buSzPct val="110000"/>
              <a:buFont typeface="Wingdings 2" pitchFamily="18" charset="2"/>
              <a:buChar char=""/>
              <a:defRPr sz="20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263650" indent="-295275" algn="l" defTabSz="914400" rtl="0" eaLnBrk="1" latinLnBrk="0" hangingPunct="1">
              <a:spcBef>
                <a:spcPts val="600"/>
              </a:spcBef>
              <a:buClr>
                <a:schemeClr val="accent1">
                  <a:lumMod val="75000"/>
                </a:schemeClr>
              </a:buClr>
              <a:buSzPct val="110000"/>
              <a:buFont typeface="Wingdings 2" pitchFamily="18" charset="2"/>
              <a:buChar char=""/>
              <a:defRPr sz="18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546225" indent="-282575" algn="l" defTabSz="914400" rtl="0" eaLnBrk="1" latinLnBrk="0" hangingPunct="1">
              <a:spcBef>
                <a:spcPts val="600"/>
              </a:spcBef>
              <a:buClr>
                <a:schemeClr val="accent1">
                  <a:lumMod val="60000"/>
                  <a:lumOff val="40000"/>
                </a:schemeClr>
              </a:buClr>
              <a:buSzPct val="110000"/>
              <a:buFont typeface="Wingdings 2" pitchFamily="18" charset="2"/>
              <a:buChar char=""/>
              <a:defRPr sz="18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828800" indent="-282575" algn="l" defTabSz="914400" rtl="0" eaLnBrk="1" latinLnBrk="0" hangingPunct="1">
              <a:spcBef>
                <a:spcPct val="20000"/>
              </a:spcBef>
              <a:buClr>
                <a:schemeClr val="accent2"/>
              </a:buClr>
              <a:buSzPct val="110000"/>
              <a:buFont typeface="Wingdings 2" pitchFamily="18" charset="2"/>
              <a:buChar char=""/>
              <a:defRPr lang="en-US" sz="1800" kern="12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117725" indent="-282575" algn="l" defTabSz="914400" rtl="0" eaLnBrk="1" latinLnBrk="0" hangingPunct="1">
              <a:spcBef>
                <a:spcPct val="20000"/>
              </a:spcBef>
              <a:buClr>
                <a:schemeClr val="accent1">
                  <a:lumMod val="60000"/>
                  <a:lumOff val="40000"/>
                </a:schemeClr>
              </a:buClr>
              <a:buSzPct val="110000"/>
              <a:buFont typeface="Wingdings 2" pitchFamily="18" charset="2"/>
              <a:buChar char=""/>
              <a:defRPr lang="en-US" sz="1800" kern="12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398713" indent="-282575" algn="l" defTabSz="914400" rtl="0" eaLnBrk="1" latinLnBrk="0" hangingPunct="1">
              <a:spcBef>
                <a:spcPct val="20000"/>
              </a:spcBef>
              <a:buClr>
                <a:schemeClr val="accent2"/>
              </a:buClr>
              <a:buSzPct val="110000"/>
              <a:buFont typeface="Wingdings 2" pitchFamily="18" charset="2"/>
              <a:buChar char=""/>
              <a:defRPr lang="en-US" sz="1800" kern="12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689225" indent="-282575" algn="l" defTabSz="914400" rtl="0" eaLnBrk="1" latinLnBrk="0" hangingPunct="1">
              <a:spcBef>
                <a:spcPct val="20000"/>
              </a:spcBef>
              <a:buClr>
                <a:schemeClr val="accent1">
                  <a:lumMod val="60000"/>
                  <a:lumOff val="40000"/>
                </a:schemeClr>
              </a:buClr>
              <a:buSzPct val="110000"/>
              <a:buFont typeface="Wingdings 2" pitchFamily="18" charset="2"/>
              <a:buChar char=""/>
              <a:defRPr lang="en-US" sz="1800" kern="1200" dirty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 smtClean="0"/>
              <a:t>Results for one trajectory: molecular vibration in a diatomic</a:t>
            </a:r>
          </a:p>
        </p:txBody>
      </p:sp>
    </p:spTree>
    <p:extLst>
      <p:ext uri="{BB962C8B-B14F-4D97-AF65-F5344CB8AC3E}">
        <p14:creationId xmlns:p14="http://schemas.microsoft.com/office/powerpoint/2010/main" val="3578038854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 smtClean="0"/>
              <a:t>Tetnative</a:t>
            </a:r>
            <a:r>
              <a:rPr lang="en-US" dirty="0" smtClean="0"/>
              <a:t> DTDCPB BOMD Results 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1755835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Conclusions and Future Directions 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426002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Questions Slide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062343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Breeze">
  <a:themeElements>
    <a:clrScheme name="Breeze">
      <a:dk1>
        <a:sysClr val="windowText" lastClr="000000"/>
      </a:dk1>
      <a:lt1>
        <a:sysClr val="window" lastClr="FFFFFF"/>
      </a:lt1>
      <a:dk2>
        <a:srgbClr val="09213B"/>
      </a:dk2>
      <a:lt2>
        <a:srgbClr val="D5EDF4"/>
      </a:lt2>
      <a:accent1>
        <a:srgbClr val="2C7C9F"/>
      </a:accent1>
      <a:accent2>
        <a:srgbClr val="244A58"/>
      </a:accent2>
      <a:accent3>
        <a:srgbClr val="E2751D"/>
      </a:accent3>
      <a:accent4>
        <a:srgbClr val="FFB400"/>
      </a:accent4>
      <a:accent5>
        <a:srgbClr val="7EB606"/>
      </a:accent5>
      <a:accent6>
        <a:srgbClr val="C00000"/>
      </a:accent6>
      <a:hlink>
        <a:srgbClr val="7030A0"/>
      </a:hlink>
      <a:folHlink>
        <a:srgbClr val="00B0F0"/>
      </a:folHlink>
    </a:clrScheme>
    <a:fontScheme name="Breeze">
      <a:majorFont>
        <a:latin typeface="News Gothic MT"/>
        <a:ea typeface=""/>
        <a:cs typeface=""/>
        <a:font script="Jpan" typeface="ＭＳ Ｐゴシック"/>
        <a:font script="Hans" typeface="宋体"/>
        <a:font script="Hant" typeface="新細明體"/>
      </a:majorFont>
      <a:minorFont>
        <a:latin typeface="News Gothic MT"/>
        <a:ea typeface=""/>
        <a:cs typeface=""/>
        <a:font script="Jpan" typeface="ＭＳ Ｐゴシック"/>
        <a:font script="Hans" typeface="宋体"/>
        <a:font script="Hant" typeface="新細明體"/>
      </a:minorFont>
    </a:fontScheme>
    <a:fmtScheme name="Breeze">
      <a:fillStyleLst>
        <a:solidFill>
          <a:schemeClr val="phClr"/>
        </a:solidFill>
        <a:gradFill rotWithShape="1">
          <a:gsLst>
            <a:gs pos="31000">
              <a:schemeClr val="phClr">
                <a:tint val="100000"/>
                <a:shade val="100000"/>
                <a:satMod val="120000"/>
              </a:schemeClr>
            </a:gs>
            <a:gs pos="100000">
              <a:schemeClr val="phClr">
                <a:tint val="50000"/>
                <a:satMod val="150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shade val="100000"/>
                <a:satMod val="120000"/>
              </a:schemeClr>
            </a:gs>
            <a:gs pos="69000">
              <a:schemeClr val="phClr">
                <a:tint val="80000"/>
                <a:shade val="100000"/>
                <a:satMod val="150000"/>
              </a:schemeClr>
            </a:gs>
            <a:gs pos="100000">
              <a:schemeClr val="phClr">
                <a:tint val="50000"/>
                <a:shade val="100000"/>
                <a:satMod val="15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dbl" algn="ctr">
          <a:solidFill>
            <a:schemeClr val="phClr"/>
          </a:solidFill>
          <a:prstDash val="solid"/>
        </a:ln>
        <a:ln w="31750" cap="flat" cmpd="dbl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63500" dist="25400" dir="5400000" sx="101000" sy="101000" rotWithShape="0">
              <a:srgbClr val="000000">
                <a:alpha val="40000"/>
              </a:srgbClr>
            </a:outerShdw>
          </a:effectLst>
        </a:effectStyle>
        <a:effectStyle>
          <a:effectLst>
            <a:innerShdw blurRad="127000" dist="25400" dir="13500000">
              <a:srgbClr val="C0C0C0">
                <a:alpha val="75000"/>
              </a:srgbClr>
            </a:innerShdw>
            <a:outerShdw blurRad="88900" dist="25400" dir="5400000" sx="102000" sy="102000" algn="ctr" rotWithShape="0">
              <a:srgbClr val="C0C0C0">
                <a:alpha val="40000"/>
              </a:srgbClr>
            </a:outerShdw>
          </a:effectLst>
          <a:scene3d>
            <a:camera prst="perspectiveLeft" fov="300000"/>
            <a:lightRig rig="soft" dir="l">
              <a:rot lat="0" lon="0" rev="4200000"/>
            </a:lightRig>
          </a:scene3d>
          <a:sp3d extrusionH="38100" prstMaterial="powder">
            <a:bevelT w="50800" h="88900" prst="convex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40000"/>
                <a:satMod val="400000"/>
              </a:schemeClr>
              <a:schemeClr val="phClr">
                <a:tint val="10000"/>
                <a:satMod val="200000"/>
              </a:schemeClr>
            </a:duotone>
          </a:blip>
          <a:stretch/>
        </a:blipFill>
      </a:bgFillStyleLst>
    </a:fmtScheme>
  </a:themeElements>
  <a:objectDefaults>
    <a:spDef>
      <a:spPr/>
      <a:bodyPr rtlCol="0" anchor="ctr"/>
      <a:lstStyle>
        <a:defPPr algn="ctr">
          <a:defRPr/>
        </a:defPPr>
      </a:lstStyle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Breeze.thmx</Template>
  <TotalTime>815</TotalTime>
  <Words>292</Words>
  <Application>Microsoft Macintosh PowerPoint</Application>
  <PresentationFormat>On-screen Show (4:3)</PresentationFormat>
  <Paragraphs>54</Paragraphs>
  <Slides>15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6" baseType="lpstr">
      <vt:lpstr>Breeze</vt:lpstr>
      <vt:lpstr>CHEM 565: Looking at Stark Effect and BOMD in DTDCPB</vt:lpstr>
      <vt:lpstr>DTDCPB – What is it used for?</vt:lpstr>
      <vt:lpstr>Experimental Perspective</vt:lpstr>
      <vt:lpstr>Experiment/Computation Combined</vt:lpstr>
      <vt:lpstr>Stark Effect Introduction</vt:lpstr>
      <vt:lpstr>Expected Effect on Spectra</vt:lpstr>
      <vt:lpstr>Stark Effect Test Case: Cyanide</vt:lpstr>
      <vt:lpstr>Tentative DTDCPB Stark Effect Results</vt:lpstr>
      <vt:lpstr>BOMD Introduction</vt:lpstr>
      <vt:lpstr>BOMD Flowchart</vt:lpstr>
      <vt:lpstr>BOMD Test Case: Cyanide</vt:lpstr>
      <vt:lpstr>BOMD Test Case: Cyanide</vt:lpstr>
      <vt:lpstr>Tetnative DTDCPB BOMD Results </vt:lpstr>
      <vt:lpstr>Conclusions and Future Directions </vt:lpstr>
      <vt:lpstr>Questions Slide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CHEM 565: Looking at Stark Effect and BOMD in DTDCPB</dc:title>
  <dc:creator>C</dc:creator>
  <cp:lastModifiedBy>Camille Houferak</cp:lastModifiedBy>
  <cp:revision>20</cp:revision>
  <dcterms:created xsi:type="dcterms:W3CDTF">2016-05-25T21:57:00Z</dcterms:created>
  <dcterms:modified xsi:type="dcterms:W3CDTF">2016-05-26T19:19:12Z</dcterms:modified>
</cp:coreProperties>
</file>